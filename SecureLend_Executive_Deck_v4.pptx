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 snapToObjects="1">
      <p:cViewPr varScale="1">
        <p:scale>
          <a:sx n="146" d="100"/>
          <a:sy n="146" d="100"/>
        </p:scale>
        <p:origin x="20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07952-A242-20B6-E77E-4475867944B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60963" y="63500"/>
            <a:ext cx="1895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T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Gizlilik / Sensitivity : Genel - Public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2CED9-0E98-6224-6860-47D35C39257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60963" y="6642100"/>
            <a:ext cx="1895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T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Gizlilik / Sensitivity : Genel - 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Georgia"/>
              </a:defRPr>
            </a:pPr>
            <a:r>
              <a:t>SecureLend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4A90D9"/>
                </a:solidFill>
                <a:latin typeface="Georgia"/>
              </a:defRPr>
            </a:pPr>
            <a:r>
              <a:t>KMH Tabanlı Dijital Kira Güvence Platformu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8C8C8C"/>
                </a:solidFill>
                <a:latin typeface="Calibri"/>
              </a:defRPr>
            </a:pPr>
            <a:r>
              <a:t>Banka Partnerlik &amp; Entegrasyon Sunumu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Nisan 2026  |  Gizli — Yalnızca Yetkili Kişiler İçin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Eray Karacaoğlan  |  eraykaracaoglan@icloud.com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Yönetici Özeti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Türkiye'de 7,4M kiracı hane için dijital kira güvence altyapısı; banka KMH entegrasyonuyla kira ödemelerini garanti altına alan B2B2C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38328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Pazar Fırsatı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26,6M hane, %28 kiracı = 7,4M kiracı hane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Ortalama konut kirası: 24.699 TL/ay (Ocak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Yıllık konut kira hacmi tahmini: ~2,2 Trilyon 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2024'te 127.676 kira tahliye davası açıldı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Pazarda KMH tabanlı dijital güvence çözümü yok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554480"/>
            <a:ext cx="338328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Çözüm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Kiracı KMH başvurusu → banka değerlendirir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Onay: Limit = gelirin max 2 katı (BDDK düzenlemesi)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Dijital onboarding + KYC → KMH hesap açılışı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Sözleşme imzası → KMH'dan ev sahibi IBAN'ına oto. ödeme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Platform: %1 komisyon; Banka: KMH faiz geliri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554480"/>
            <a:ext cx="3383280" cy="41148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Banka İçin Değer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Yeni gelir hattı: KMH faizi + ödeme hacmi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Dijital müşteri kazanımı: genç kiracı segmenti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Cross-sell: Kredi kartı, sigorta, yatırım ürünleri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Düşük operasyonel yük: API entegrasyonu, platform yönetir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BDDK ve KVKK uyumlu hazır altyapı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İstatistiklerle Aile 2024; TCMB Konut Fiyat Endeksi Ocak 2026; Adalet Bakanlığı 2024 yargı istatistikleri; BDDK Kurul Kararı 29.01.2026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Türkiye Konut Kiralama Pazarı: Büyüklük ve Dinamikler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7,4 milyon kiracı hane, yıllık ~2,2 Trilyon TL kira hacmi — ancak dijital güvence penetrasyonu sıfır.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26,6M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Toplam hane (TÜİK 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%28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Kiracı hane oranı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7,4M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Kiracı hane sayısı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Ort. aylık kira (Ocak 2026)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645920"/>
            <a:ext cx="27432" cy="420624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15544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Bölgesel Ortalama Kiralar (100m², Q4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011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İstanbul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011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₺37.000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084832"/>
            <a:ext cx="3200400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2514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İzmir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514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₺25.000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587752"/>
            <a:ext cx="2162432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20" y="3017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Ankara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017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₺21.000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090672"/>
            <a:ext cx="1816443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Türkiye 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593592"/>
            <a:ext cx="2136396" cy="22860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0" y="420624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Kira Artış Oranları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663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Yıllık kira artışı (nominal, Ocak 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6634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%34,2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029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Yasal kira artış üst limiti (TÜFE 12 ay ort.)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0292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%32,82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394959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En yüksek bölgesel artış (İzmir)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394959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0392B"/>
                </a:solidFill>
                <a:latin typeface="Calibri"/>
              </a:defRPr>
            </a:pPr>
            <a:r>
              <a:t>%38,5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7607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Konut fiyat artışı (yıllık, reel)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760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27AE60"/>
                </a:solidFill>
                <a:latin typeface="Calibri"/>
              </a:defRPr>
            </a:pPr>
            <a:r>
              <a:t>%2,7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İstatistiklerle Aile 2024; TCMB Yeni Kiracı Kira Endeksi Ocak 2026; TÜİK TÜFE Mart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Kiracı-Ev Sahibi Güven Krizi: Ölçeklenebilir Bir Sorun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127.000+ dava, 34.000+ icra dosyası — sistemik güvensizlik her iki taraf için değer kaybı yaratıyor.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Mevcut Durum: Ölçülebilir Sorunlar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127.676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kira tahliye davası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69.609'u aynı yıl açıldı, 57.007'si önceki yıldan devir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34.366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icra takip dosyası kiracılara karşı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91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Ortalama tahsilat süresi 12-18 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%34,2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yıllık kira artışı (Ocak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251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TÜFE bazlı yasal sınır %32,82 — uyum sorunu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40"/>
            <a:ext cx="54864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₺0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892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dijital kira güvence ürünü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212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Mevcut pazarda KMH tabanlı çözüm bulunmuyor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Kim Kaybediyor?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  <a:latin typeface="Calibri"/>
              </a:defRPr>
            </a:pPr>
            <a:r>
              <a:t>Kiracı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5146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Yüksek depozito yükü (2-3 aylık kira)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072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tehdidi altında yaşam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998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Kredi geçmişi oluşturamama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  <a:latin typeface="Calibri"/>
              </a:defRPr>
            </a:pPr>
            <a:r>
              <a:t>Ev Sahibi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86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Kira tahsilat riski (gecikme, ödenmeme)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788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davası maliyeti ve süresi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714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Mülk boş kalma süresi (vacancy loss)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937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7932E"/>
                </a:solidFill>
                <a:latin typeface="Calibri"/>
              </a:defRPr>
            </a:pPr>
            <a:r>
              <a:t>Banka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578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Kiracı segmentine ürün eksikliği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504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Düzenli gelirli müşteri kaçırma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8430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Cross-sell fırsat kaybı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Adalet Bakanlığı Yargı İstatistikleri 2024; kısadalga.net (Adalet Bakanlığı verileri); TCMB Kira Endeksi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Çözüm: KMH Tabanlı Kira Güvence Mekanizması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Banka KMH hesabı kira ödeme garantisi olarak çalışır — kiracı için depozitosuz taşınma, ev sahibi için garantili gelir.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4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KMH</a:t>
            </a:r>
            <a:br/>
            <a:r>
              <a:t>Başvurusu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Gelir, istihdam</a:t>
            </a:r>
            <a:br/>
            <a:r>
              <a:t>bilgileri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Banka</a:t>
            </a:r>
            <a:br/>
            <a:r>
              <a:t>Değerlendirme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KKB skoru +</a:t>
            </a:r>
            <a:br/>
            <a:r>
              <a:t>gelir analizi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800599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599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KMH</a:t>
            </a:r>
            <a:br/>
            <a:r>
              <a:t>Onayı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Limit: aylık</a:t>
            </a:r>
            <a:br/>
            <a:r>
              <a:t>gelir × max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6675119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19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Dijital</a:t>
            </a:r>
            <a:br/>
            <a:r>
              <a:t>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KYC + video</a:t>
            </a:r>
            <a:br/>
            <a:r>
              <a:t>+ KVKK onay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  <a:br/>
            <a:r>
              <a:t>İmza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E-imza + KMH</a:t>
            </a:r>
            <a:br/>
            <a:r>
              <a:t>hesap bağlama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10424160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2416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Otomatik</a:t>
            </a:r>
            <a:br/>
            <a:r>
              <a:t>Ödeme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→ IBAN</a:t>
            </a:r>
            <a:br/>
            <a:r>
              <a:t>her ay transfer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520440"/>
            <a:ext cx="10515600" cy="50292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35661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BDDK Kurul Kararı (29.01.2026):  KMH limiti, müşterinin belgeli aylık ortalama gelirinin azami 2 katı olarak belirlenmiştir.  Eğitim KMH'ları muaftır.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Kiracı Değeri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Depozitosuz taşınma imkanı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Kredi geçmişi oluşturma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Tek platformdan ödeme yönetimi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Nakit akışı esnekliği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Ev Sahibi Değeri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Banka garantili kira tahsilatı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davası riski → ~sıfır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IBAN'a otomatik ödeme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Dijital sözleşme yönetimi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297680"/>
            <a:ext cx="338328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467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Banka Değeri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KMH faiz geliri (%2,49 ort.)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7,4M kiracı → yeni müşteri havuzu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Cross-sell: kart, sigorta, yatırım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Düşük operasyonel maliyet (API)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BDDK Basın Açıklaması 30.01.2026; İş Bankası KMH Ürün Sayfası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İş Modeli: Ödeme Akışı ve Gelir Yapısı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Her kira ödemesinde 3 taraf kazanır: banka (KMH faizi), platform (%1 komisyon), ev sahibi (garantili tahsilat).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560320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Kiracı</a:t>
            </a:r>
            <a:br/>
            <a:r>
              <a:t>KMH Hesabı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286000"/>
            <a:ext cx="2560320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SecureLend</a:t>
            </a:r>
            <a:br/>
            <a: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286000"/>
            <a:ext cx="2560320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Ev Sahibi</a:t>
            </a:r>
            <a:br/>
            <a:r>
              <a:t>IBAN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Kira tutarı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517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Kira - %1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517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Gelir Dağılımı (₺15.000 aylık kira örneği)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54864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Platform Komisyonu (%1)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434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009688"/>
                </a:solidFill>
                <a:latin typeface="Calibri"/>
              </a:defRPr>
            </a:pPr>
            <a:r>
              <a:t>₺150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92040"/>
            <a:ext cx="54864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Ev Sahibi Net Ödeme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920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003C71"/>
                </a:solidFill>
                <a:latin typeface="Calibri"/>
              </a:defRPr>
            </a:pPr>
            <a:r>
              <a:t>₺14.850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49240"/>
            <a:ext cx="54864" cy="32004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3492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Banka KMH Faiz Geliri (%2,49 ort.)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3492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C7932E"/>
                </a:solidFill>
                <a:latin typeface="Calibri"/>
              </a:defRPr>
            </a:pPr>
            <a:r>
              <a:t>KMH kullanımına bağlı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931920"/>
            <a:ext cx="3749039" cy="24688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4069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Birim Ekonomi Modeli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805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Ort. aylık kira (Türkiye)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4805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Platform komisyonu (%1)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8463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₺247/ay/sözleşme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2120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Yıllık/sözleşme geliri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2120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₺2.964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577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Hedef: 10.000 aktif sözleşme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57784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₺29,6M/yıl platform geliri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943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Hedef: 50.000 aktif sözleşme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9436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₺148,2M/yıl platform geliri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Ortalama kira TCMB Ocak 2026 verisi. Platform komisyon oranı varsayımsal (%1). Banka KMH faiz oranı İş Bankası KMH referansı.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Teknoloji Mimarisi: Entegrasyona Hazır Modüler Yapı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Abstract Service Pattern sayesinde Mock→Production geçişi tek konfigürasyon değişikliği — sıfır kod değişikliği.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858000" cy="7315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Kullanıcı Katmanı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Next.js 15 Web App  •  Expo React Native (Mobil)  •  18 Sayfa + Admin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6858000" cy="73152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API Katmanı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NestJS 10  •  ~38 REST Endpoint  •  JWT+OTP Auth  •  JSend Format  •  Swagger 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685800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Servis Soyutlama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673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Abstract Service Pattern  •  DI ile Mock↔Production switch  •  5 harici servis entegrasyonu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6858000" cy="7315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Veri Katmanı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PostgreSQL 14  •  Prisma ORM  •  13 Tablo  •  10 Enum  •  Full Index  •  Audit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Harici Servis Entegrasyonları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965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BankService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148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KMH, transfer, bakiye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1167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Banka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4688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SmsService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OTP, bildirim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5146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Netgsm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9718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CreditScoring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1546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KKB, skor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0175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Findeks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4747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IdentityVerify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657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TCKN, KPS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5204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E-Devlet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977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PropertyVerify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1605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UAVT, tapu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02335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TAKBİS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5720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Güvenlik: 10 Katman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937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1. Helmet 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937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2. CORS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2120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3. 3-Tier Rate Limit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2120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4. JWT Guard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4864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5. Roles (RBAC)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4864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6. DTO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760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7. TCKN Hash+Pepper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760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8. Log Masking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60350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9. Audit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60350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10. Safe Error Filter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SecureLend codebase (github.com/MyselfERAY/SecureLend). Prisma schema, NestJS modül yapısı.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Banka Tarafı API Entegrasyon Gereksinimleri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Bankanın sağlaması gereken 5 servis grubu — SecureLend abstract interface'ler üzerinden çağırır.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KMH Başvuru &amp; Değerlendirme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applyForKmh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Başvuru + gelir bilgileri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957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957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evaluateApplication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3957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KKB skor + limit hesaplama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7977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7797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acceptOffer / cancelApp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2779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Teklif kabul/red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KYC &amp; Dijital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011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011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startKyc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KYC sürecini başlat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3957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957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verifyId / verifySelfie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3957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Kimlik + selfie doğrulama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77977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7797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completeVideoCall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779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Video görüşme (KYC)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16382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16382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signAgreements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16382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Sözleşme imzalama → Hesap açılış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23360"/>
            <a:ext cx="512064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Hesap &amp; 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80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getAccountsByUser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39" y="4480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hesap listesi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646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864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getBalance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39" y="48646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Bakiye + kullanılabilir limit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248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2486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transfer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39" y="524865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→ IBAN transfer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3270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63270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notifyContractSigned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39" y="56327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Oto. ödeme emri oluştur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023360"/>
            <a:ext cx="512064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0" y="40233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Mülk Doğrulama (TAKBİS)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4480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verifyOwnership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480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UAVT + TCKN sahiplik kontrolü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59" y="48646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864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getPropertyDetails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8646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Tapu detayları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5248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52486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checkEncumbrance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24865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İpotek/haciz kontrolü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SecureLend BankService abstract sınıfı (apps/api/src/modules/bank/bank.service.ts)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Regülasyon Uyumu ve Risk Azaltma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BDDK, KVKK ve TCMB düzenlemelerine uyumlu teknik altyapı — bankacılık düzeyinde veri güvenliği.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BDDK — Kredili Mevduat Hesabı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KMH limiti: aylık gelirin max 2 katı (Kurul Kararı 29.01.2026)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Kullanılmayan KMH limitleri için %10 sermaye yükümlülüğü (01.04.2026'dan itibaren)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Gelir tespiti: bankalarca ispata elverişli belgeler zorunlu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Eğitim amaçlı KMH muafiyeti (banka-kurum anlaşması şartıyla)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12064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KVKK — Kişisel Veri Koruma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Aydınlatma metni + açık rıza onayı (consent tablosuyla versiyon bazlı takip)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000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TCKN kriptografik hash + pepper ile saklanır (açık metin tutulmaz)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3405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OTP, telefon, TCKN loglardan otomatik maskelenir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181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Veri işleme amacı ve süresi tanımlı; silme/anonim hale getirme mekanizması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77639"/>
            <a:ext cx="5120640" cy="36576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Operasyonel Güvenlik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JWT Access (15dk) + Refresh (7gün) çift katmanlı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18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3 katmanlı rate limiting: short (3/s), medium (10/10s), long (30/60s)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0293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Role-based access control: TENANT / LANDLORD /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86983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Audit log: tüm kritik işlemler IP ve User-Agent ile kaydedilir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512064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977639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TAKBİS &amp; Mülk Doğrulama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348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UAVT kodu ile mülk sahiplik doğrulaması (sözleşme öncesi)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18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İpotek/haciz sorgusu — kiralanan mülk riski değerlendirmesi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0293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TKGM web servisi entegrasyonu planlanıyor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86983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Sahiplik doğrulaması olmadan sözleşme oluşturma engellenecek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BDDK Kurul Kararı 29.01.2026; KVKK Kanun No: 6698; TCMB düzenlemeleri; TKGM TAKBİS web servisleri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Entegrasyon Yol Haritası: 16 Haftalık Go-Live Planı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Mock altyapı hazır — banka sandbox erişimi ile 16 haftada canlıya geçiş hedefleniyor.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560320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1</a:t>
            </a:r>
            <a:br/>
            <a:r>
              <a:t>Teknik Keşif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API spesifikasyon anlaşması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Banka sandbox ortam kurulumu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Mock → Gerçek API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Güvenlik gereksinimleri</a:t>
            </a:r>
            <a:br/>
            <a:r>
              <a:t>(mTLS, OAuth2, API key)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554480"/>
            <a:ext cx="2560320" cy="822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2</a:t>
            </a:r>
            <a:br/>
            <a:r>
              <a:t>Entegrasyon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5-8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BankService API bağlantısı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TAKBİS UAVT entegrasyonu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SMS gateway (Netgsm)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KKB/Findeks + E-Devlet KPS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3</a:t>
            </a:r>
            <a:br/>
            <a:r>
              <a:t>Test &amp; UAT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9-12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E2E: Başvuru→Onay→Ödeme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Penetrasyon testi (OWASP)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Performans &amp; yük testi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BDDK + KVKK uyum kontrolü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554480"/>
            <a:ext cx="2560320" cy="8229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4</a:t>
            </a:r>
            <a:br/>
            <a:r>
              <a:t>Pilot &amp; Go-Live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13-16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Pilot: İstanbul 1 ilçe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Kademeli artış %10→%100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Monitoring &amp; alerting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Full production go-live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1965960"/>
            <a:ext cx="1124712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" y="5029200"/>
            <a:ext cx="10515600" cy="59436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07492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Kritik Milestonelar:   API Spec Onayı (H2)  →  İlk KMH Test İşlemi (H6)  →  TAKBİS Entegrasyonu (H7)  →  UAT Tamamlanma (H11)  →  Pilot Go-Live (H13)  →  Full Go-Live (H16)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Harici servis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~38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API endpoint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DB tablosu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59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59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Hafta go-live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Rekabet Analizi: Mevcut Pazar Boşluğu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Türkiye'de kira takip platformları var — ancak hiçbiri banka entegrasyonlu KMH güvence modeli sunmuyor.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SecureLend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KiraPratik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Mülk Takibi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Takip Kira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Kozmos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0116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Kira Takip &amp; Yönetim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Dijital Sözleşme İmza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29260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Banka KMH Entegrasyonu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3832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33832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Otomatik Kira Ödemesi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Kısmen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38404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KKB/Findeks Skorlama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7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1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5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2976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" y="42976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TAKBİS Mülk Doğrulama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7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1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5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2960" y="47548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KVKK Uyumlu Altyapı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7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1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5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52120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52120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Komisyon Gelir Modeli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0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7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1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5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SecureLend, Türkiye'de banka KMH entegrasyonuyla kira güvencesi sunan ilk ve tek platform konumundadır. Mevcut oyuncular kira takibi yapar — SecureLend kira garantisi sağlar.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kirapratik.com; mulktakibi.com; takipkira.com; kozmos.ist — Nisan 2026 itibarıyla kamuya açık bilgiler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Global Perspektif: Depozito Alternatifi Pazarı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Kira güvence/depozito alternatifi küresel olarak $3,2 Milyar pazar — Türkiye'de henüz oyuncu yok.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Global Pazar Büyüklüğü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3C71"/>
                </a:solidFill>
                <a:latin typeface="Calibri"/>
              </a:defRPr>
            </a:pPr>
            <a:r>
              <a:t>$3,2B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11679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Küresel depozito alternatifi pazarı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6BA6"/>
                </a:solidFill>
                <a:latin typeface="Calibri"/>
              </a:defRPr>
            </a:pPr>
            <a:r>
              <a:t>$1,3B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06039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Avrupa pazarı (%41 pay)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9688"/>
                </a:solidFill>
                <a:latin typeface="Calibri"/>
              </a:defRPr>
            </a:pPr>
            <a:r>
              <a:t>%8-16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004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Yıllık bileşik büyüme (CAGR)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Öncü Şirketler ve Fonlama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10515600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Şirket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429768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Fonlama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29768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Detay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297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Ölçek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297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Rhino (ABD)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466344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$95M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66344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$500M değerleme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66344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1M+ konut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66344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Sigorta bazlı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10912"/>
            <a:ext cx="10515600" cy="3200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LeaseLock (ABD)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79" y="501091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$52M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01091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B2B SaaS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01091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Kurumsal apt.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01091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Sigorta bazlı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58383"/>
            <a:ext cx="10515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358383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Obligo (ABD)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5358383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$90M+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5358383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Wells Fargo desteği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5358383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Open Banking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358383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Teminat mektubu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05856"/>
            <a:ext cx="10515600" cy="3200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705856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Flatfair (İngiltere)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79" y="5705856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$13M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705856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Index Ventures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5705856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Kendi sigortası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705856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Ön ücret modeli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1554480"/>
            <a:ext cx="3200400" cy="29260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95360" y="1691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3C71"/>
                </a:solidFill>
                <a:latin typeface="Calibri"/>
              </a:defRPr>
            </a:pPr>
            <a:r>
              <a:t>SecureLend Farkı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21488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Sigorta değil, banka ürünü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350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KMH = bankaca açılan kredi hesabı; sigorta primi yok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2697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BDDK regüle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8986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Banka düzenlemesine tabi; sigorta lisansı gerektirmez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2461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3 taraflı kazanç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447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Banka, kiracı ve ev sahibi için değer yaratır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37947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Komisyon modeli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9959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%1 platform komisyonu; kiracıya ek maliyet yok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Growth Market Reports 2024; TechCrunch; Bloomberg; Crunchbase; Obligo basın bülteni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Büyüme Projeksiyonları: 5 Yıllık Senaryo Analizi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Yılda ~1,5-2M yeni kira sözleşmesi imzalanıyor (7,4M hane ÷ ort. 4 yıl kiracılık). Baz senaryoda yeni sözleşmelerin %5-7'sini yakalamak yeterli.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20440" cy="4572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Muhafazakâr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Yıl 5 penetrasyon: %0,7 penetrasyon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2.500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₺7,4M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8.000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₺23,7M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20.000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₺59,3M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3C71"/>
                </a:solidFill>
                <a:latin typeface="Calibri"/>
              </a:defRPr>
            </a:pPr>
            <a:r>
              <a:t>50.000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3C71"/>
                </a:solidFill>
                <a:latin typeface="Calibri"/>
              </a:defRPr>
            </a:pPr>
            <a:r>
              <a:t>₺148,2M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Tek banka partneri</a:t>
            </a:r>
            <a:br/>
            <a:r>
              <a:t>Yeni söz. %1,3'ü yeterli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1554480"/>
            <a:ext cx="3520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Baz Senaryo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Yıl 5 penetrasyon: %2,0 penetrasyon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6636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3484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5.000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₺14,8M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3484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20.000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₺59,3M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3484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60.000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₺177,8M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3484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150.000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₺444,5M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2-3 banka partneri</a:t>
            </a:r>
            <a:br/>
            <a:r>
              <a:t>Yeni söz. %5-7'si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1554480"/>
            <a:ext cx="3520440" cy="45720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816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Agresif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Yıl 5 penetrasyon: %4,7 penetrasyon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6112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2960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10.000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₺29,6M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2960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40.000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₺118,6M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2960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120.000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₺355,5M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2960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C7932E"/>
                </a:solidFill>
                <a:latin typeface="Calibri"/>
              </a:defRPr>
            </a:pPr>
            <a:r>
              <a:t>350.000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C7932E"/>
                </a:solidFill>
                <a:latin typeface="Calibri"/>
              </a:defRPr>
            </a:pPr>
            <a:r>
              <a:t>₺1,04B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5+ banka + sigorta</a:t>
            </a:r>
            <a:br/>
            <a:r>
              <a:t>Yeni söz. %12-15'i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4400" y="5120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TAM (Toplam Pazar)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4406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7,4M kiracı hane</a:t>
            </a:r>
            <a:br/>
            <a:r>
              <a:t>₺2,2 Trilyon yıllık kira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0" y="51206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6BA6"/>
                </a:solidFill>
                <a:latin typeface="Calibri"/>
              </a:defRPr>
            </a:pPr>
            <a:r>
              <a:t>SAM (Erişilebilir Pazar)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0" y="5440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3,7M büyükşehir kiracı hane</a:t>
            </a:r>
            <a:br/>
            <a:r>
              <a:t>Banka müşterisi &amp; KMH uygun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51206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9688"/>
                </a:solidFill>
                <a:latin typeface="Calibri"/>
              </a:defRPr>
            </a:pPr>
            <a:r>
              <a:t>SOM (Hedeflenebilir Pazar)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5440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350K ilk 5 yıl hedef</a:t>
            </a:r>
            <a:br/>
            <a:r>
              <a:t>Yıllık yeni söz.'lerin %12-15'i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2024 (7,4M kiracı hane). Yıllık ~1,5-2M yeni kira sözleşmesi tahmini (ort. 4 yıl kiracılık süresi). Gelir: ort. kira ₺24.699 × %1 komisyon. Rhino ABD: 1M konut, 3 yıl.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Sosyal Etki: Finansal Kapsayıcılık ve Toplumsal Değer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SecureLend yalnızca bir fintech ürünü değil — konut erişimi, finansal kapsayıcılık ve toplumsal barışa katkı.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  <a:latin typeface="Calibri"/>
              </a:defRPr>
            </a:pPr>
            <a:r>
              <a:t>Mevcut Toplumsal Sorunlar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0392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116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kişi hayatını kaybetti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0428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Ev sahibi-kiracı anlaşmazlıklarında</a:t>
            </a:r>
            <a:br/>
            <a:r>
              <a:t>(2022-2024 basın taraması)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0392B"/>
                </a:solidFill>
                <a:latin typeface="Calibri"/>
              </a:defRPr>
            </a:pPr>
            <a:r>
              <a:t>~50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71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yaralanan kişi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6440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Kira uyuşmazlığı kaynaklı</a:t>
            </a:r>
            <a:br/>
            <a:r>
              <a:t>şiddet olayları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7932E"/>
                </a:solidFill>
                <a:latin typeface="Calibri"/>
              </a:defRPr>
            </a:pPr>
            <a:r>
              <a:t>%47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931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tahliye davası artışı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22452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Son 2 yılda tahliye davaları</a:t>
            </a:r>
            <a:br/>
            <a:r>
              <a:t>neredeyse yarı yarıya arttı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40"/>
            <a:ext cx="54864" cy="7772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003C71"/>
                </a:solidFill>
                <a:latin typeface="Calibri"/>
              </a:defRPr>
            </a:pPr>
            <a:r>
              <a:t>₺0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92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kiracı kredi geçmişi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1846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Düzenli kira ödeyen kiracının</a:t>
            </a:r>
            <a:br/>
            <a:r>
              <a:t>banka nezdinde kredi skoru yok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09688"/>
                </a:solidFill>
                <a:latin typeface="Calibri"/>
              </a:defRPr>
            </a:pPr>
            <a:r>
              <a:t>SecureLend'in Sosyal Katkısı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48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9688"/>
                </a:solidFill>
                <a:latin typeface="Calibri"/>
              </a:defRPr>
            </a:pPr>
            <a:r>
              <a:t>Konut Erişimi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Depozitosuz taşınma: 2-3 aylık kira yükü ortadan kalkar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7614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Genç profesyoneller ve yeni evli çiftler için erişim kolaylığı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540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Şehirler arası mobilite artışı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20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3C71"/>
                </a:solidFill>
                <a:latin typeface="Calibri"/>
              </a:defRPr>
            </a:pPr>
            <a:r>
              <a:t>Finansal Kapsayıcılık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404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Düzenli kira ödemeleri KKB'ye raporlanır → kredi geçmişi oluşur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330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Bankasız nüfusun banka müşterisi olması (KMH hesap açılışı)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256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Cross-sell ile sigorta, yatırım ürünlerine erişim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92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7932E"/>
                </a:solidFill>
                <a:latin typeface="Calibri"/>
              </a:defRPr>
            </a:pPr>
            <a:r>
              <a:t>Toplumsal Barış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1207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Garantili ödeme = anlaşmazlık ve şiddet riski azalır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04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Tahliye davası sayısında öngörülen azalma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797295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Dijital sözleşme ile hukuki şeffaflık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Al Jazeera 2023; bianet.org 2024; TÜİK İstatistiklerle Aile 2024; TCMB; Adalet Bakanlığı yargı istatistikleri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Sonraki Adımlar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8C8C8C"/>
                </a:solidFill>
                <a:latin typeface="Calibri"/>
              </a:defRPr>
            </a:pPr>
            <a:r>
              <a:t>16 haftada canlıya geçiş — teknik altyapı hazır, banka partner bekleniyor.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92608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Teknik Ekip Toplantısı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00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API spesifikasyon değerlendirmesi ve sandbox erişim planlaması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71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1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7033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PoC Entegrasyonu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977639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MockBankService → Banka sandbox'ına ilk KMH test başvurusu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3-4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48056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80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İş Geliştirme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7548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Pilot bölge seçimi, fiyatlama modeli, komisyon oranı mutabakatı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4-6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25780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257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Go-Live Hazırlık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5321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UAT tamamlama, regülasyon onayı, canlıya geçiş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303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12-16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SecureLend  |  Eray Karacaoğlan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309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4A90D9"/>
                </a:solidFill>
                <a:latin typeface="Calibri"/>
              </a:defRPr>
            </a:pPr>
            <a:r>
              <a:t>eraykaracaoglan@icloud.com  |  kiraguvence.com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035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Gizli — Yalnızca Yetkili Kişiler İçin</a:t>
            </a:r>
            <a:br/>
            <a:r>
              <a:t>Nisan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dca5db8-ee29-458c-a934-49d44e0dd0c7}" enabled="1" method="Standard" siteId="{e9c64658-ad1d-4509-a894-165fab566123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2581</Words>
  <Application>Microsoft Macintosh PowerPoint</Application>
  <PresentationFormat>Widescreen</PresentationFormat>
  <Paragraphs>539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Eray KARACAOĞLAN</cp:lastModifiedBy>
  <cp:revision>1</cp:revision>
  <dcterms:created xsi:type="dcterms:W3CDTF">2013-01-27T09:14:16Z</dcterms:created>
  <dcterms:modified xsi:type="dcterms:W3CDTF">2026-04-09T08:08:32Z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Gizlilik / Sensitivity : Genel - Public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Gizlilik / Sensitivity : Genel - Public</vt:lpwstr>
  </property>
</Properties>
</file>