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 snapToObjects="1">
      <p:cViewPr varScale="1">
        <p:scale>
          <a:sx n="146" d="100"/>
          <a:sy n="146" d="100"/>
        </p:scale>
        <p:origin x="200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96D74B-D62F-D5B2-54CF-673CAC954DA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160963" y="63500"/>
            <a:ext cx="1895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T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Gizlilik / Sensitivity : Genel - Public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7E6BB4-0F54-1FF7-3255-AD5E00E5E26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160963" y="6642100"/>
            <a:ext cx="1895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T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Gizlilik / Sensitivity : Genel - Public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 i="0">
                <a:solidFill>
                  <a:srgbClr val="FFFFFF"/>
                </a:solidFill>
                <a:latin typeface="Georgia"/>
              </a:defRPr>
            </a:pPr>
            <a:r>
              <a:t>SecureLend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060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 i="0">
                <a:solidFill>
                  <a:srgbClr val="4A90D9"/>
                </a:solidFill>
                <a:latin typeface="Georgia"/>
              </a:defRPr>
            </a:pPr>
            <a:r>
              <a:t>KMH Tabanlı Dijital Kira Güvence Platformu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8C8C8C"/>
                </a:solidFill>
                <a:latin typeface="Calibri"/>
              </a:defRPr>
            </a:pPr>
            <a:r>
              <a:t>Banka Partnerlik &amp; Entegrasyon Sunumu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9893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Nisan 2026  |  Gizli — Yalnızca Yetkili Kişiler İçin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9893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Eray Karacaoğlan  |  eraykaracaoglan@icloud.com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Yönetici Özeti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Türkiye'de 7,4M kiracı hane için dijital kira güvence altyapısı; banka KMH entegrasyonuyla kira ödemelerini garanti altına alan B2B2C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3383280" cy="4114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Pazar Fırsatı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26,6M hane, %28 kiracı = 7,4M kiracı hane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3C71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Ortalama konut kirası: 24.699 TL/ay (Ocak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3C71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Yıllık konut kira hacmi tahmini: ~2,2 Trilyon 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3C71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2024'te 127.676 kira tahliye davası açıldı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3C71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947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Pazarda KMH tabanlı dijital güvence çözümü yok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3C71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554480"/>
            <a:ext cx="3383280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155448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Çözüm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1488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Kiracı KMH başvurusu → banka değerlendirir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14884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968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5603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Onay: Limit = gelirin max 2 katı (BDDK düzenlemesi)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56032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968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9718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Dijital onboarding + KYC → KMH hesap açılışı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97180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968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383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Sözleşme imzası → KMH'dan ev sahibi IBAN'ına oto. ödeme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38328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968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7947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Platform: %1 komisyon; Banka: KMH faiz geliri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79476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968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1554480"/>
            <a:ext cx="3383280" cy="41148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0" y="155448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Banka İçin Değer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21488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Yeni gelir hattı: KMH faizi + ödeme hacmi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14884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C7932E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25603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Dijital müşteri kazanımı: genç kiracı segmenti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256032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C7932E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29718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Cross-sell: Kredi kartı, sigorta, yatırım ürünleri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297180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C7932E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3383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Düşük operasyonel yük: API entegrasyonu, platform yönetir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38328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C7932E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37947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BDDK ve KVKK uyumlu hazır altyapı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79476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C7932E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TÜİK İstatistiklerle Aile 2024; TCMB Konut Fiyat Endeksi Ocak 2026; Adalet Bakanlığı 2024 yargı istatistikleri; BDDK Kurul Kararı 29.01.2026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Türkiye Konut Kiralama Pazarı: Büyüklük ve Dinamikler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7,4 milyon kiracı hane, yıllık ~2,2 Trilyon TL kira hacmi — ancak dijital güvence penetrasyonu sıfır.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003C71"/>
                </a:solidFill>
                <a:latin typeface="Calibri"/>
              </a:defRPr>
            </a:pPr>
            <a:r>
              <a:t>26,6M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Toplam hane (TÜİK 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003C71"/>
                </a:solidFill>
                <a:latin typeface="Calibri"/>
              </a:defRPr>
            </a:pPr>
            <a:r>
              <a:t>%28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Kiracı hane oranı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003C71"/>
                </a:solidFill>
                <a:latin typeface="Calibri"/>
              </a:defRPr>
            </a:pPr>
            <a:r>
              <a:t>7,4M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Kiracı hane sayısı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003C71"/>
                </a:solidFill>
                <a:latin typeface="Calibri"/>
              </a:defRPr>
            </a:pPr>
            <a:r>
              <a:t>₺24.699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Ort. aylık kira (Ocak 2026)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645920"/>
            <a:ext cx="27432" cy="4206240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0" y="15544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Bölgesel Ortalama Kiralar (100m², Q4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0116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İstanbul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0116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₺37.000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084832"/>
            <a:ext cx="3200400" cy="2286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31920" y="25146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İzmir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5146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₺25.000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587752"/>
            <a:ext cx="2162432" cy="2286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31920" y="3017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Ankara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017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₺21.000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090672"/>
            <a:ext cx="1816443" cy="2286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31920" y="35204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Türkiye 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35204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₺24.699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593592"/>
            <a:ext cx="2136396" cy="22860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480" y="420624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Kira Artış Oranları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6634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5A5A5A"/>
                </a:solidFill>
                <a:latin typeface="Calibri"/>
              </a:defRPr>
            </a:pPr>
            <a:r>
              <a:t>Yıllık kira artışı (nominal, Ocak 2026)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66344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%34,2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029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5A5A5A"/>
                </a:solidFill>
                <a:latin typeface="Calibri"/>
              </a:defRPr>
            </a:pPr>
            <a:r>
              <a:t>Yasal kira artış üst limiti (TÜFE 12 ay ort.)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0292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7932E"/>
                </a:solidFill>
                <a:latin typeface="Calibri"/>
              </a:defRPr>
            </a:pPr>
            <a:r>
              <a:t>%32,82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394959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5A5A5A"/>
                </a:solidFill>
                <a:latin typeface="Calibri"/>
              </a:defRPr>
            </a:pPr>
            <a:r>
              <a:t>En yüksek bölgesel artış (İzmir)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5394959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0392B"/>
                </a:solidFill>
                <a:latin typeface="Calibri"/>
              </a:defRPr>
            </a:pPr>
            <a:r>
              <a:t>%38,5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57607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5A5A5A"/>
                </a:solidFill>
                <a:latin typeface="Calibri"/>
              </a:defRPr>
            </a:pPr>
            <a:r>
              <a:t>Konut fiyat artışı (yıllık, reel)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7607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27AE60"/>
                </a:solidFill>
                <a:latin typeface="Calibri"/>
              </a:defRPr>
            </a:pPr>
            <a:r>
              <a:t>%2,7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TÜİK İstatistiklerle Aile 2024; TCMB Yeni Kiracı Kira Endeksi Ocak 2026; TÜİK TÜFE Mart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Kiracı-Ev Sahibi Güven Krizi: Ölçeklenebilir Bir Sorun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127.000+ dava, 34.000+ icra dosyası — sistemik güvensizlik her iki taraf için değer kaybı yaratıyor.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Mevcut Durum: Ölçülebilir Sorunlar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54864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127.676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0116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kira tahliye davası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3317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69.609'u aynı yıl açıldı, 57.007'si önceki yıldan devir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71800"/>
            <a:ext cx="54864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34.366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71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icra takip dosyası kiracılara karşı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918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Ortalama tahsilat süresi 12-18 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54864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%34,2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9319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yıllık kira artışı (Ocak 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2519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TÜFE bazlı yasal sınır %32,82 — uyum sorunu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92040"/>
            <a:ext cx="54864" cy="7315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₺0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8920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dijital kira güvence ürünü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2120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Mevcut pazarda KMH tabanlı çözüm bulunmuyor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554480"/>
            <a:ext cx="5029200" cy="457200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16916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Kim Kaybediyor?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194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  <a:latin typeface="Calibri"/>
              </a:defRPr>
            </a:pPr>
            <a:r>
              <a:t>Kiracı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5146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Yüksek depozito yükü (2-3 aylık kira)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80720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Tahliye tehdidi altında yaşam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09981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Kredi geçmişi oluşturamama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566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  <a:latin typeface="Calibri"/>
              </a:defRPr>
            </a:pPr>
            <a:r>
              <a:t>Ev Sahibi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8862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Kira tahsilat riski (gecikme, ödenmeme)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17880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Tahliye davası maliyeti ve süresi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47141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Mülk boş kalma süresi (vacancy loss)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937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C7932E"/>
                </a:solidFill>
                <a:latin typeface="Calibri"/>
              </a:defRPr>
            </a:pPr>
            <a:r>
              <a:t>Banka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2578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Kiracı segmentine ürün eksikliği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55040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Düzenli gelirli müşteri kaçırma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84301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Cross-sell fırsat kaybı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Adalet Bakanlığı Yargı İstatistikleri 2024; kısadalga.net (Adalet Bakanlığı verileri); TCMB Kira Endeksi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Çözüm: KMH Tabanlı Kira Güvence Mekanizması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Banka KMH hesabı kira ödeme garantisi olarak çalışır — kiracı için depozitosuz taşınma, ev sahibi için garantili gelir.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4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1645920"/>
            <a:ext cx="502920" cy="502920"/>
          </a:xfrm>
          <a:prstGeom prst="ellipse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KMH</a:t>
            </a:r>
            <a:br/>
            <a:r>
              <a:t>Başvurusu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Gelir, istihdam</a:t>
            </a:r>
            <a:br/>
            <a:r>
              <a:t>bilgileri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7190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0D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2926080" y="1645920"/>
            <a:ext cx="502920" cy="50292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26080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Banka</a:t>
            </a:r>
            <a:br/>
            <a:r>
              <a:t>Değerlendirme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KKB skoru +</a:t>
            </a:r>
            <a:br/>
            <a:r>
              <a:t>gelir analizi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7190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0D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4800599" y="1645920"/>
            <a:ext cx="502920" cy="502920"/>
          </a:xfrm>
          <a:prstGeom prst="ellipse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599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KMH</a:t>
            </a:r>
            <a:br/>
            <a:r>
              <a:t>Onayı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Limit: aylık</a:t>
            </a:r>
            <a:br/>
            <a:r>
              <a:t>gelir × max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17190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0D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6675119" y="1645920"/>
            <a:ext cx="502920" cy="50292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19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199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Dijital</a:t>
            </a:r>
            <a:br/>
            <a:r>
              <a:t>Onboarding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199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KYC + video</a:t>
            </a:r>
            <a:br/>
            <a:r>
              <a:t>+ KVKK onay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59" y="17190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0D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8549640" y="1645920"/>
            <a:ext cx="502920" cy="502920"/>
          </a:xfrm>
          <a:prstGeom prst="ellipse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49640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Sözleşme</a:t>
            </a:r>
            <a:br/>
            <a:r>
              <a:t>İmza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9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E-imza + KMH</a:t>
            </a:r>
            <a:br/>
            <a:r>
              <a:t>hesap bağlama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17190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0D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Oval 32"/>
          <p:cNvSpPr/>
          <p:nvPr/>
        </p:nvSpPr>
        <p:spPr>
          <a:xfrm>
            <a:off x="10424160" y="1645920"/>
            <a:ext cx="502920" cy="50292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24160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Otomatik</a:t>
            </a:r>
            <a:br/>
            <a:r>
              <a:t>Ödeme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KMH → IBAN</a:t>
            </a:r>
            <a:br/>
            <a:r>
              <a:t>her ay transfer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520440"/>
            <a:ext cx="10515600" cy="50292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356616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BDDK Kurul Kararı (29.01.2026):  KMH limiti, müşterinin belgeli aylık ortalama gelirinin azami 2 katı olarak belirlenmiştir.  Eğitim KMH'ları muaftır.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297680"/>
            <a:ext cx="338328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4297680"/>
            <a:ext cx="3383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Kiracı Değeri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8006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Depozitosuz taşınma imkanı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1480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Kredi geçmişi oluşturma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49554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Tek platformdan ödeme yönetimi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84301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Nakit akışı esnekliği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4297680"/>
            <a:ext cx="3383280" cy="3657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89120" y="4297680"/>
            <a:ext cx="3383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Ev Sahibi Değeri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48006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Banka garantili kira tahsilatı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51480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Tahliye davası riski → ~sıfır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549554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IBAN'a otomatik ödeme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80" y="584301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Dijital sözleşme yönetimi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4297680"/>
            <a:ext cx="3383280" cy="36576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46720" y="4297680"/>
            <a:ext cx="3383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Banka Değeri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48006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KMH faiz geliri (%2,49 ort.)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80" y="51480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7,4M kiracı → yeni müşteri havuzu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3880" y="549554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Cross-sell: kart, sigorta, yatırım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80" y="584301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Düşük operasyonel maliyet (API)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BDDK Basın Açıklaması 30.01.2026; İş Bankası KMH Ürün Sayfası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İş Modeli: Ödeme Akışı ve Gelir Yapısı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Her kira ödemesinde 3 taraf kazanır: banka (KMH faizi), platform (%1 komisyon), ev sahibi (garantili tahsilat).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2560320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560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Kiracı</a:t>
            </a:r>
            <a:br/>
            <a:r>
              <a:t>KMH Hesabı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286000"/>
            <a:ext cx="2560320" cy="10972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0" y="2286000"/>
            <a:ext cx="2560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SecureLend</a:t>
            </a:r>
            <a:br/>
            <a:r>
              <a:t>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286000"/>
            <a:ext cx="2560320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2286000"/>
            <a:ext cx="2560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Ev Sahibi</a:t>
            </a:r>
            <a:br/>
            <a:r>
              <a:t>IBAN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774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5A5A5A"/>
                </a:solidFill>
                <a:latin typeface="Calibri"/>
              </a:defRPr>
            </a:pPr>
            <a:r>
              <a:t>Kira tutarı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517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96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3774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5A5A5A"/>
                </a:solidFill>
                <a:latin typeface="Calibri"/>
              </a:defRPr>
            </a:pPr>
            <a:r>
              <a:t>Kira - %1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517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96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Gelir Dağılımı (₺15.000 aylık kira örneği)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34840"/>
            <a:ext cx="54864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Calibri"/>
              </a:defRPr>
            </a:pPr>
            <a:r>
              <a:t>Platform Komisyonu (%1)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4348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 i="0">
                <a:solidFill>
                  <a:srgbClr val="009688"/>
                </a:solidFill>
                <a:latin typeface="Calibri"/>
              </a:defRPr>
            </a:pPr>
            <a:r>
              <a:t>₺150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892040"/>
            <a:ext cx="54864" cy="3200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89204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Calibri"/>
              </a:defRPr>
            </a:pPr>
            <a:r>
              <a:t>Ev Sahibi Net Ödeme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8920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 i="0">
                <a:solidFill>
                  <a:srgbClr val="003C71"/>
                </a:solidFill>
                <a:latin typeface="Calibri"/>
              </a:defRPr>
            </a:pPr>
            <a:r>
              <a:t>₺14.850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49240"/>
            <a:ext cx="54864" cy="32004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34924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Calibri"/>
              </a:defRPr>
            </a:pPr>
            <a:r>
              <a:t>Banka KMH Faiz Geliri (%2,49 ort.)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3492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 i="0">
                <a:solidFill>
                  <a:srgbClr val="C7932E"/>
                </a:solidFill>
                <a:latin typeface="Calibri"/>
              </a:defRPr>
            </a:pPr>
            <a:r>
              <a:t>KMH kullanımına bağlı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3931920"/>
            <a:ext cx="3749039" cy="24688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0" y="40690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Birim Ekonomi Modeli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4805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Ort. aylık kira (Türkiye)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448056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5A5A5A"/>
                </a:solidFill>
                <a:latin typeface="Calibri"/>
              </a:defRPr>
            </a:pPr>
            <a:r>
              <a:t>₺24.699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8463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Platform komisyonu (%1)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48463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5A5A5A"/>
                </a:solidFill>
                <a:latin typeface="Calibri"/>
              </a:defRPr>
            </a:pPr>
            <a:r>
              <a:t>₺247/ay/sözleşme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2120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Yıllık/sözleşme geliri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52120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5A5A5A"/>
                </a:solidFill>
                <a:latin typeface="Calibri"/>
              </a:defRPr>
            </a:pPr>
            <a:r>
              <a:t>₺2.964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5778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Hedef: 10.000 aktif sözleşme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557784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₺29,6M/yıl platform geliri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943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Hedef: 50.000 aktif sözleşme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59436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₺148,2M/yıl platform geliri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Ortalama kira TCMB Ocak 2026 verisi. Platform komisyon oranı varsayımsal (%1). Banka KMH faiz oranı İş Bankası KMH referansı.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Teknoloji Mimarisi: Entegrasyona Hazır Modüler Yapı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Abstract Service Pattern sayesinde Mock→Production geçişi tek konfigürasyon değişikliği — sıfır kod değişikliği.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6858000" cy="73152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Kullanıcı Katmanı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Next.js 15 Web App  •  Expo React Native (Mobil)  •  18 Sayfa + Admin Panel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6858000" cy="73152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API Katmanı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52928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NestJS 10  •  ~38 REST Endpoint  •  JWT+OTP Auth  •  JSend Format  •  Swagger Docs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6858000" cy="7315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Servis Soyutlama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67328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Abstract Service Pattern  •  DI ile Mock↔Production switch  •  5 harici servis entegrasyonu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6858000" cy="73152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Veri Katmanı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81728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PostgreSQL 14  •  Prisma ORM  •  13 Tablo  •  10 Enum  •  Full Index  •  Audit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5544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Harici Servis Entegrasyonları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9659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003C71"/>
                </a:solidFill>
                <a:latin typeface="Calibri"/>
              </a:defRPr>
            </a:pPr>
            <a:r>
              <a:t>BankService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1488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KMH, transfer, bakiye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01167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009688"/>
                </a:solidFill>
                <a:latin typeface="Calibri"/>
              </a:defRPr>
            </a:pPr>
            <a:r>
              <a:t>Mock → Banka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46888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003C71"/>
                </a:solidFill>
                <a:latin typeface="Calibri"/>
              </a:defRPr>
            </a:pPr>
            <a:r>
              <a:t>SmsService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6517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OTP, bildirim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5146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009688"/>
                </a:solidFill>
                <a:latin typeface="Calibri"/>
              </a:defRPr>
            </a:pPr>
            <a:r>
              <a:t>Mock → Netgsm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9718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003C71"/>
                </a:solidFill>
                <a:latin typeface="Calibri"/>
              </a:defRPr>
            </a:pPr>
            <a:r>
              <a:t>CreditScoring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1546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KKB, skor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0175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009688"/>
                </a:solidFill>
                <a:latin typeface="Calibri"/>
              </a:defRPr>
            </a:pPr>
            <a:r>
              <a:t>Mock → Findeks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4747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003C71"/>
                </a:solidFill>
                <a:latin typeface="Calibri"/>
              </a:defRPr>
            </a:pPr>
            <a:r>
              <a:t>IdentityVerify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6576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TCKN, KPS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52043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009688"/>
                </a:solidFill>
                <a:latin typeface="Calibri"/>
              </a:defRPr>
            </a:pPr>
            <a:r>
              <a:t>Mock → E-Devlet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97763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003C71"/>
                </a:solidFill>
                <a:latin typeface="Calibri"/>
              </a:defRPr>
            </a:pPr>
            <a:r>
              <a:t>PropertyVerify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1605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UAVT, tapu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402335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009688"/>
                </a:solidFill>
                <a:latin typeface="Calibri"/>
              </a:defRPr>
            </a:pPr>
            <a:r>
              <a:t>Mock → TAKBİS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5720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Güvenlik: 10 Katman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9377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1. Helmet HTTP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49377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2. CORS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2120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3. 3-Tier Rate Limit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52120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4. JWT Guard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54864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5. Roles (RBAC)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54864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6. DTO 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7607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7. TCKN Hash+Pepper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57607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8. Log Masking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60350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9. Audit Log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60350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10. Safe Error Filter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SecureLend codebase (github.com/MyselfERAY/SecureLend). Prisma schema, NestJS modül yapısı.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Banka Tarafı API Entegrasyon Gereksinimleri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Bankanın sağlaması gereken 5 servis grubu — SecureLend abstract interface'ler üzerinden çağırır.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7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5120640" cy="3657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KMH Başvuru &amp; Değerlendirme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11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applyForKmh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Başvuru + gelir bilgileri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957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9572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evaluateApplication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39572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KKB skor + limit hesaplama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7977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77977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acceptOffer / cancelApp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39" y="277977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Teklif kabul/red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54480"/>
            <a:ext cx="5120640" cy="36576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55448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KYC &amp; Dijital Onboarding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011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011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startKyc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KYC sürecini başlat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23957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39572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verifyId / verifySelfie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39572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Kimlik + selfie doğrulama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77977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77977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completeVideoCall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77977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Video görüşme (KYC)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16382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16382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signAgreements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16382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Sözleşme imzalama → Hesap açılış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023360"/>
            <a:ext cx="512064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02336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Hesap &amp; Transfer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480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7AE60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480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getAccountsByUser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39" y="44805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KMH hesap listesi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8646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7AE60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48646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getBalance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39" y="48646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Bakiye + kullanılabilir limit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24865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524865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transfer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39" y="524865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KMH → IBAN transfer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63270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563270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notifyContractSigned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39" y="563270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Oto. ödeme emri oluştur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023360"/>
            <a:ext cx="5120640" cy="36576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17920" y="402336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Mülk Doğrulama (TAKBİS)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59" y="4480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7AE60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4480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verifyOwnership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44805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UAVT + TCKN sahiplik kontrolü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59" y="48646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7AE60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48646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getPropertyDetails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48646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Tapu detayları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59" y="524865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7AE60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12280" y="524865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checkEncumbrance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524865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İpotek/haciz kontrolü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SecureLend BankService abstract sınıfı (apps/api/src/modules/bank/bank.service.ts)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Regülasyon Uyumu ve Risk Azaltma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BDDK, KVKK ve TCMB düzenlemelerine uyumlu teknik altyapı — bankacılık düzeyinde veri güvenliği.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5120640" cy="3657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BDDK — Kredili Mevduat Hesabı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KMH limiti: aylık gelirin max 2 katı (Kurul Kararı 29.01.2026)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Kullanılmayan KMH limitleri için %10 sermaye yükümlülüğü (01.04.2026'dan itibaren)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34056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Gelir tespiti: bankalarca ispata elverişli belgeler zorunlu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181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Eğitim amaçlı KMH muafiyeti (banka-kurum anlaşması şartıyla)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512064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50876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KVKK — Kişisel Veri Koruma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Aydınlatma metni + açık rıza onayı (consent tablosuyla versiyon bazlı takip)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5000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TCKN kriptografik hash + pepper ile saklanır (açık metin tutulmaz)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34056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OTP, telefon, TCKN loglardan otomatik maskelenir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181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Veri işleme amacı ve süresi tanımlı; silme/anonim hale getirme mekanizması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977639"/>
            <a:ext cx="5120640" cy="36576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977639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Operasyonel Güvenlik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JWT Access (15dk) + Refresh (7gün) çift katmanlı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1888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3 katmanlı rate limiting: short (3/s), medium (10/10s), long (30/60s)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02936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Role-based access control: TENANT / LANDLORD /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86983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Audit log: tüm kritik işlemler IP ve User-Agent ile kaydedilir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77639"/>
            <a:ext cx="5120640" cy="36576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3977639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TAKBİS &amp; Mülk Doğrulama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3484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UAVT kodu ile mülk sahiplik doğrulaması (sözleşme öncesi)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1888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İpotek/haciz sorgusu — kiralanan mülk riski değerlendirmesi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202936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TKGM web servisi entegrasyonu planlanıyor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586983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Sahiplik doğrulaması olmadan sözleşme oluşturma engellenecek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BDDK Kurul Kararı 29.01.2026; KVKK Kanun No: 6698; TCMB düzenlemeleri; TKGM TAKBİS web servisleri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Entegrasyon Yol Haritası: 16 Haftalık Go-Live Planı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Mock altyapı hazır — banka sandbox erişimi ile 16 haftada canlıya geçiş hedefleniyor.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560320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Faz 1</a:t>
            </a:r>
            <a:br/>
            <a:r>
              <a:t>Teknik Keşif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Hafta 1-4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API spesifikasyon anlaşması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Banka sandbox ortam kurulumu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11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Mock → Gerçek API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Güvenlik gereksinimleri</a:t>
            </a:r>
            <a:br/>
            <a:r>
              <a:t>(mTLS, OAuth2, API key)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554480"/>
            <a:ext cx="2560320" cy="82296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0" y="160020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Faz 2</a:t>
            </a:r>
            <a:br/>
            <a:r>
              <a:t>Entegrasyon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1031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Hafta 5-8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606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BankService API bağlantısı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1089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TAKBİS UAVT entegrasyonu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611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SMS gateway (Netgsm)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114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KKB/Findeks + E-Devlet KPS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554480"/>
            <a:ext cx="2560320" cy="8229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0" y="160020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Faz 3</a:t>
            </a:r>
            <a:br/>
            <a:r>
              <a:t>Test &amp; UAT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1031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Hafta 9-12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606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E2E: Başvuru→Onay→Ödeme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1089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Penetrasyon testi (OWASP)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611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Performans &amp; yük testi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114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BDDK + KVKK uyum kontrolü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1554480"/>
            <a:ext cx="2560320" cy="82296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0" y="160020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Faz 4</a:t>
            </a:r>
            <a:br/>
            <a:r>
              <a:t>Pilot &amp; Go-Live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1031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Hafta 13-16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606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Pilot: İstanbul 1 ilçe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1089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Kademeli artış %10→%100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611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Monitoring &amp; alerting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114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Full production go-live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1965960"/>
            <a:ext cx="1124712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1520" y="5029200"/>
            <a:ext cx="10515600" cy="59436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074920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Kritik Milestonelar:   API Spec Onayı (H2)  →  İlk KMH Test İşlemi (H6)  →  TAKBİS Entegrasyonu (H7)  →  UAT Tamamlanma (H11)  →  Pilot Go-Live (H13)  →  Full Go-Live (H16)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7607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1264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Harici servis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57607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~38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61264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API endpoint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7607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61264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DB tablosu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59" y="57607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59" y="61264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Hafta go-live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Rekabet Analizi: Mevcut Pazar Boşluğu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Türkiye'de kira takip platformları var — ancak hiçbiri banka entegrasyonlu KMH güvence modeli sunmuyor.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554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SecureLend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54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KiraPratik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1554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Mülk Takibi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19" y="1554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Takip Kira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1554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Kozmos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011680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0116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Kira Takip &amp; Yönetim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011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011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2011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011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2011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468880"/>
            <a:ext cx="10515600" cy="4114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24688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Dijital Sözleşme İmza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468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468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2468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2468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2468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926080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29260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Banka KMH Entegrasyonu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926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2926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79" y="2926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19" y="2926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59" y="2926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383280"/>
            <a:ext cx="10515600" cy="4114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33832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Otomatik Kira Ödemesi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33832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33832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79" y="33832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19" y="33832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59" y="33832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Kısmen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3840480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60" y="38404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KKB/Findeks Skorlama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3840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3840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79" y="3840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19" y="3840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59" y="3840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4297680"/>
            <a:ext cx="10515600" cy="4114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2960" y="42976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TAKBİS Mülk Doğrulama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4297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297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79" y="4297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19" y="4297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59" y="4297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22960" y="47548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KVKK Uyumlu Altyapı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0" y="4754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4754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79" y="4754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19" y="4754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59" y="4754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5212080"/>
            <a:ext cx="10515600" cy="4114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2960" y="52120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Komisyon Gelir Modeli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0" y="5212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63440" y="5212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Abonelik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26479" y="5212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Abonelik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89519" y="5212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Abonelik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59" y="5212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SecureLend, Türkiye'de banka KMH entegrasyonuyla kira güvencesi sunan ilk ve tek platform konumundadır. Mevcut oyuncular kira takibi yapar — SecureLend kira garantisi sağlar.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kirapratik.com; mulktakibi.com; takipkira.com; kozmos.ist — Nisan 2026 itibarıyla kamuya açık bilgiler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Global Perspektif: Depozito Alternatifi Pazarı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Kira güvence/depozito alternatifi küresel olarak $3,2 Milyar pazar — Türkiye'de henüz oyuncu yok.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Global Pazar Büyüklüğü (2024)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003C71"/>
                </a:solidFill>
                <a:latin typeface="Calibri"/>
              </a:defRPr>
            </a:pPr>
            <a:r>
              <a:t>$3,2B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011679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Küresel depozito alternatifi pazarı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006BA6"/>
                </a:solidFill>
                <a:latin typeface="Calibri"/>
              </a:defRPr>
            </a:pPr>
            <a:r>
              <a:t>$1,3B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606039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Avrupa pazarı (%41 pay)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009688"/>
                </a:solidFill>
                <a:latin typeface="Calibri"/>
              </a:defRPr>
            </a:pPr>
            <a:r>
              <a:t>%8-16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2004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Yıllık bileşik büyüme (CAGR)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Öncü Şirketler ve Fonlama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97680"/>
            <a:ext cx="10515600" cy="3200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Şirket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429768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Fonlama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29768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Detay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29768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Ölçek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29768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663440"/>
            <a:ext cx="10515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6634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Rhino (ABD)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79" y="466344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$95M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66344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$500M değerleme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66344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1M+ konut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66344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Sigorta bazlı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010912"/>
            <a:ext cx="10515600" cy="32004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010912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LeaseLock (ABD)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79" y="5010912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$52M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5010912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B2B SaaS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5010912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Kurumsal apt.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010912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Sigorta bazlı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358383"/>
            <a:ext cx="10515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5358383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Obligo (ABD)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79" y="5358383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$90M+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5358383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Wells Fargo desteği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5358383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Open Banking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358383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Teminat mektubu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705856"/>
            <a:ext cx="10515600" cy="32004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705856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Flatfair (İngiltere)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79" y="5705856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$13M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5705856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Index Ventures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5705856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Kendi sigortası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5705856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Ön ücret modeli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1554480"/>
            <a:ext cx="3200400" cy="29260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95360" y="16916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03C71"/>
                </a:solidFill>
                <a:latin typeface="Calibri"/>
              </a:defRPr>
            </a:pPr>
            <a:r>
              <a:t>SecureLend Farkı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214884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Sigorta değil, banka ürünü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23500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KMH = bankaca açılan kredi hesabı; sigorta primi yok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26974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BDDK regüle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28986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Banka düzenlemesine tabi; sigorta lisansı gerektirmez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2461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3 taraflı kazanç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4472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Banka, kiracı ve ev sahibi için değer yaratır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37947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Komisyon modeli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399592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%1 platform komisyonu; kiracıya ek maliyet yok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Growth Market Reports 2024; TechCrunch; Bloomberg; Crunchbase; Obligo basın bülteni 2024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Büyüme Projeksiyonları: 5 Yıllık Senaryo Analizi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7,4M kiracı hanenin %0,1'i bile 7.400 sözleşme — %1 penetrasyonla yıllık ₺2,2 Milyar kira hacmi yönetimi.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520440" cy="4572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Muhafazakâr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Yıl 5 penetrasyon: %0,7 penetrasyon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3520440" cy="274320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24231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Sözleşme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42316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Platform Geliri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43200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0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743200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2.500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74320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₺7,4M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27248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127248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27248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8.000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12724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₺23,7M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11296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511296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511296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20.000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51129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₺59,3M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895344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895344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Yıl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895344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3C71"/>
                </a:solidFill>
                <a:latin typeface="Calibri"/>
              </a:defRPr>
            </a:pPr>
            <a:r>
              <a:t>50.000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89534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3C71"/>
                </a:solidFill>
                <a:latin typeface="Calibri"/>
              </a:defRPr>
            </a:pPr>
            <a:r>
              <a:t>₺148,2M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389120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Tek banka partneri</a:t>
            </a:r>
            <a:br/>
            <a:r>
              <a:t>Organik büyüme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1554480"/>
            <a:ext cx="352044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43400" y="155448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Baz Senaryo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2103120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Yıl 5 penetrasyon: %2,7 penetrasyon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2423160"/>
            <a:ext cx="3520440" cy="274320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34840" y="242316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66360" y="24231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Sözleşme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42316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Platform Geliri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2743200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34840" y="2743200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2743200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5.000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74320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₺14,8M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3127248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34840" y="3127248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3127248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25.000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312724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₺74,1M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3511296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34840" y="3511296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3511296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75.000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351129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₺222,2M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43400" y="3895344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434840" y="3895344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Yıl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3895344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200.000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389534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₺592,6M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4840" y="4389120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2-3 banka partneri</a:t>
            </a:r>
            <a:br/>
            <a:r>
              <a:t>B2B2C kanalları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1554480"/>
            <a:ext cx="3520440" cy="45720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38160" y="155448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Agresif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2103120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Yıl 5 penetrasyon: %6,8 penetrasyon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2423160"/>
            <a:ext cx="3520440" cy="274320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29600" y="242316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61120" y="24231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Sözleşme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9840" y="242316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Platform Geliri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2743200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0" y="2743200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20" y="2743200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10.000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49840" y="274320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₺29,6M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3127248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29600" y="3127248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0" y="3127248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50.000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49840" y="312724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₺148,2M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3511296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229600" y="3511296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61120" y="3511296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200.000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49840" y="351129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₺592,6M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3895344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229600" y="3895344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Yıl 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61120" y="3895344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C7932E"/>
                </a:solidFill>
                <a:latin typeface="Calibri"/>
              </a:defRPr>
            </a:pPr>
            <a:r>
              <a:t>500.000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49840" y="389534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C7932E"/>
                </a:solidFill>
                <a:latin typeface="Calibri"/>
              </a:defRPr>
            </a:pPr>
            <a:r>
              <a:t>₺1,48B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0" y="4389120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5+ banka + sigorta</a:t>
            </a:r>
            <a:br/>
            <a:r>
              <a:t>Gayrimenkul zincirleri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5029200"/>
            <a:ext cx="10515600" cy="100584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14400" y="5120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TAM (Toplam Pazar)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54406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7,4M kiracı hane</a:t>
            </a:r>
            <a:br/>
            <a:r>
              <a:t>₺2,2 Trilyon yıllık kira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4800" y="51206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006BA6"/>
                </a:solidFill>
                <a:latin typeface="Calibri"/>
              </a:defRPr>
            </a:pPr>
            <a:r>
              <a:t>SAM (Erişilebilir Pazar)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0" y="54406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3,7M büyükşehir kiracı hane</a:t>
            </a:r>
            <a:br/>
            <a:r>
              <a:t>Banka müşterisi &amp; KMH uygun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72400" y="51206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009688"/>
                </a:solidFill>
                <a:latin typeface="Calibri"/>
              </a:defRPr>
            </a:pPr>
            <a:r>
              <a:t>SOM (Hedeflenebilir Pazar)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72400" y="54406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500K ilk 5 yıl hedef</a:t>
            </a:r>
            <a:br/>
            <a:r>
              <a:t>Yıllık ₺1,48B platform geliri potansiyeli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TÜİK hane verileri 2024. Gelir projeksiyonları ort. kira ₺24.699, %1 komisyon varsayımıyla hesaplanmıştır. Penetrasyon oranları Rhino ABD referansıyla uyumludur.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Sosyal Etki: Finansal Kapsayıcılık ve Toplumsal Değer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SecureLend yalnızca bir fintech ürünü değil — konut erişimi, finansal kapsayıcılık ve toplumsal barışa katkı.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  <a:latin typeface="Calibri"/>
              </a:defRPr>
            </a:pPr>
            <a:r>
              <a:t>Mevcut Toplumsal Sorunlar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C0392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0116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kişi hayatını kaybetti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30428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Ev sahibi-kiracı anlaşmazlıklarında</a:t>
            </a:r>
            <a:br/>
            <a:r>
              <a:t>(2022-2024 basın taraması)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71800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C0392B"/>
                </a:solidFill>
                <a:latin typeface="Calibri"/>
              </a:defRPr>
            </a:pPr>
            <a:r>
              <a:t>~50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9718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yaralanan kişi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26440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Kira uyuşmazlığı kaynaklı</a:t>
            </a:r>
            <a:br/>
            <a:r>
              <a:t>şiddet olayları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54864" cy="77724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C7932E"/>
                </a:solidFill>
                <a:latin typeface="Calibri"/>
              </a:defRPr>
            </a:pPr>
            <a:r>
              <a:t>%47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9319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tahliye davası artışı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22452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Son 2 yılda tahliye davaları</a:t>
            </a:r>
            <a:br/>
            <a:r>
              <a:t>neredeyse yarı yarıya arttı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92040"/>
            <a:ext cx="54864" cy="7772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003C71"/>
                </a:solidFill>
                <a:latin typeface="Calibri"/>
              </a:defRPr>
            </a:pPr>
            <a:r>
              <a:t>₺0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892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kiracı kredi geçmişi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18464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Düzenli kira ödeyen kiracının</a:t>
            </a:r>
            <a:br/>
            <a:r>
              <a:t>banka nezdinde kredi skoru yok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554480"/>
            <a:ext cx="5029200" cy="457200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16916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009688"/>
                </a:solidFill>
                <a:latin typeface="Calibri"/>
              </a:defRPr>
            </a:pPr>
            <a:r>
              <a:t>SecureLend'in Sosyal Katkısı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148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09688"/>
                </a:solidFill>
                <a:latin typeface="Calibri"/>
              </a:defRPr>
            </a:pPr>
            <a:r>
              <a:t>Konut Erişimi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Depozitosuz taşınma: 2-3 aylık kira yükü ortadan kalkar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7614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Genç profesyoneller ve yeni evli çiftler için erişim kolaylığı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05409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Şehirler arası mobilite artışı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5204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03C71"/>
                </a:solidFill>
                <a:latin typeface="Calibri"/>
              </a:defRPr>
            </a:pPr>
            <a:r>
              <a:t>Finansal Kapsayıcılık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8404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Düzenli kira ödemeleri KKB'ye raporlanır → kredi geçmişi oluşur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1330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Bankasız nüfusun banka müşterisi olması (KMH hesap açılışı)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42569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Cross-sell ile sigorta, yatırım ürünlerine erişim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92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C7932E"/>
                </a:solidFill>
                <a:latin typeface="Calibri"/>
              </a:defRPr>
            </a:pPr>
            <a:r>
              <a:t>Toplumsal Barış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212079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Garantili ödeme = anlaşmazlık ve şiddet riski azalır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504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Tahliye davası sayısında öngörülen azalma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797295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Dijital sözleşme ile hukuki şeffaflık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Al Jazeera 2023; bianet.org 2024; TÜİK İstatistiklerle Aile 2024; TCMB; Adalet Bakanlığı yargı istatistikleri 2024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Georgia"/>
              </a:defRPr>
            </a:pPr>
            <a:r>
              <a:t>Sonraki Adımlar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8C8C8C"/>
                </a:solidFill>
                <a:latin typeface="Calibri"/>
              </a:defRPr>
            </a:pPr>
            <a:r>
              <a:t>16 haftada canlıya geçiş — teknik altyapı hazır, banka partner bekleniyor.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92608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Teknik Ekip Toplantısı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2004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API spesifikasyon değerlendirmesi ve sandbox erişim planlaması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971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7932E"/>
                </a:solidFill>
                <a:latin typeface="Calibri"/>
              </a:defRPr>
            </a:pPr>
            <a:r>
              <a:t>Hafta 1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70332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7033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703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PoC Entegrasyonu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977639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MockBankService → Banka sandbox'ına ilk KMH test başvurusu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749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7932E"/>
                </a:solidFill>
                <a:latin typeface="Calibri"/>
              </a:defRPr>
            </a:pPr>
            <a:r>
              <a:t>Hafta 3-4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48056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480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İş Geliştirme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7548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Pilot bölge seçimi, fiyatlama modeli, komisyon oranı mutabakatı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5262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7932E"/>
                </a:solidFill>
                <a:latin typeface="Calibri"/>
              </a:defRPr>
            </a:pPr>
            <a:r>
              <a:t>Hafta 4-6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525780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257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Go-Live Hazırlık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5321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UAT tamamlama, regülasyon onayı, canlıya geçiş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303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7932E"/>
                </a:solidFill>
                <a:latin typeface="Calibri"/>
              </a:defRPr>
            </a:pPr>
            <a:r>
              <a:t>Hafta 12-16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59436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SecureLend  |  Eray Karacaoğlan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3093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4A90D9"/>
                </a:solidFill>
                <a:latin typeface="Calibri"/>
              </a:defRPr>
            </a:pPr>
            <a:r>
              <a:t>eraykaracaoglan@icloud.com  |  kiraguvence.com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60350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Gizli — Yalnızca Yetkili Kişiler İçin</a:t>
            </a:r>
            <a:br/>
            <a:r>
              <a:t>Nisan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adca5db8-ee29-458c-a934-49d44e0dd0c7}" enabled="1" method="Standard" siteId="{e9c64658-ad1d-4509-a894-165fab566123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2547</Words>
  <Application>Microsoft Macintosh PowerPoint</Application>
  <PresentationFormat>Widescreen</PresentationFormat>
  <Paragraphs>539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Eray KARACAOĞLAN</cp:lastModifiedBy>
  <cp:revision>1</cp:revision>
  <dcterms:created xsi:type="dcterms:W3CDTF">2013-01-27T09:14:16Z</dcterms:created>
  <dcterms:modified xsi:type="dcterms:W3CDTF">2026-04-09T07:36:52Z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Gizlilik / Sensitivity : Genel - Public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Gizlilik / Sensitivity : Genel - Public</vt:lpwstr>
  </property>
</Properties>
</file>