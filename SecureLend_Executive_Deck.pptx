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2286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SecureLend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0">
                <a:solidFill>
                  <a:srgbClr val="00A896"/>
                </a:solidFill>
                <a:latin typeface="Calibri"/>
              </a:defRPr>
            </a:pPr>
            <a:r>
              <a:t>Dijital Kira Güvence Platformu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1">
                <a:solidFill>
                  <a:srgbClr val="94A3B8"/>
                </a:solidFill>
                <a:latin typeface="Calibri"/>
              </a:defRPr>
            </a:pPr>
            <a:r>
              <a:t>KMH Tabanlı Banka Entegrasyon Çözümü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Banka Partnerlik Sunumu  |  Nisan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4348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Gizli - Yalnızca Yetkili Kişiler İçin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C1B33"/>
                </a:solidFill>
                <a:latin typeface="Calibri"/>
              </a:defRPr>
            </a:pPr>
            <a:r>
              <a:t>Türkiye Kira Pazarındaki Güven Problemi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94A3B8"/>
                </a:solidFill>
                <a:latin typeface="Calibri"/>
              </a:defRPr>
            </a:pPr>
            <a:r>
              <a:t>Kiracı ile ev sahibi arasındaki ödeme güvensizliği, her iki taraf için de risk oluşturuyor.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353312"/>
            <a:ext cx="3840480" cy="3200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38404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C1B33"/>
                </a:solidFill>
                <a:latin typeface="Calibri"/>
              </a:defRPr>
            </a:pPr>
            <a:r>
              <a:t>Mevcut Durum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028090"/>
                </a:solidFill>
                <a:latin typeface="Calibri"/>
              </a:defRPr>
            </a:pPr>
            <a:r>
              <a:t>12M+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9659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aktif kira sözleşmesi Türkiye'de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028090"/>
                </a:solidFill>
                <a:latin typeface="Calibri"/>
              </a:defRPr>
            </a:pPr>
            <a:r>
              <a:t>%35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0603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kira gecikme oranı (ilk 3 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028090"/>
                </a:solidFill>
                <a:latin typeface="Calibri"/>
              </a:defRPr>
            </a:pPr>
            <a:r>
              <a:t>4.8M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461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hukuki uyuşmazlık dosyası (2025)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7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028090"/>
                </a:solidFill>
                <a:latin typeface="Calibri"/>
              </a:defRPr>
            </a:pPr>
            <a:r>
              <a:t>₺0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88619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dijital kira güvence ürünü pazarda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0872" y="1353312"/>
            <a:ext cx="3840480" cy="3200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325880"/>
            <a:ext cx="38404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4630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28090"/>
                </a:solidFill>
                <a:latin typeface="Calibri"/>
              </a:defRPr>
            </a:pPr>
            <a:r>
              <a:t>Fırsat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9202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F5A623"/>
                </a:solidFill>
                <a:latin typeface="Calibri"/>
              </a:defRPr>
            </a:pPr>
            <a:r>
              <a:t>KMH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9659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ile kira garantisi → sıfır depozito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5603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F5A623"/>
                </a:solidFill>
                <a:latin typeface="Calibri"/>
              </a:defRPr>
            </a:pPr>
            <a:r>
              <a:t>B2B2C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60603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model: Banka ↔ Platform ↔ Kullanıcı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2004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F5A623"/>
                </a:solidFill>
                <a:latin typeface="Calibri"/>
              </a:defRPr>
            </a:pPr>
            <a:r>
              <a:t>%1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461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komisyon geliri (her kira ödemesinden)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84047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F5A623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88619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entegrasyon → bankaya yeni ürün hattı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C1B33"/>
                </a:solidFill>
                <a:latin typeface="Calibri"/>
              </a:defRPr>
            </a:pPr>
            <a:r>
              <a:t>Çözüm: KMH Tabanlı Dijital Kira Güvence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94A3B8"/>
                </a:solidFill>
                <a:latin typeface="Calibri"/>
              </a:defRPr>
            </a:pPr>
            <a:r>
              <a:t>Banka KMH hesabı, kiracının ödeme garantisi olarak çalışır — ev sahibi her ay otomatik tahsilat alır.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399032"/>
            <a:ext cx="187451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87451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1554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0C1B33"/>
                </a:solidFill>
                <a:latin typeface="Calibri"/>
              </a:defRPr>
            </a:pPr>
            <a:r>
              <a:t>KMH Başvurusu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Kiracı gelir bilgileriyle</a:t>
            </a:r>
            <a:br/>
            <a:r>
              <a:t>başvurur, banka otomatik</a:t>
            </a:r>
            <a:br/>
            <a:r>
              <a:t>değerlendirme yapar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1399032"/>
            <a:ext cx="187451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371600"/>
            <a:ext cx="187451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37560" y="1554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5544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0C1B33"/>
                </a:solidFill>
                <a:latin typeface="Calibri"/>
              </a:defRPr>
            </a:pPr>
            <a:r>
              <a:t>Dijital Onboarding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KYC doğrulama,</a:t>
            </a:r>
            <a:br/>
            <a:r>
              <a:t>KMH hesap açılışı,</a:t>
            </a:r>
            <a:br/>
            <a:r>
              <a:t>limit tahsisi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82312" y="1399032"/>
            <a:ext cx="187451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1371600"/>
            <a:ext cx="187451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5544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0C1B33"/>
                </a:solidFill>
                <a:latin typeface="Calibri"/>
              </a:defRPr>
            </a:pPr>
            <a:r>
              <a:t>Sözleşme İmzası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65176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Dijital sözleşme,</a:t>
            </a:r>
            <a:br/>
            <a:r>
              <a:t>KMH hesap bağlama,</a:t>
            </a:r>
            <a:br/>
            <a:r>
              <a:t>çift taraflı e-imza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9712" y="1399032"/>
            <a:ext cx="187451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12280" y="1371600"/>
            <a:ext cx="187451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554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15544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0C1B33"/>
                </a:solidFill>
                <a:latin typeface="Calibri"/>
              </a:defRPr>
            </a:pPr>
            <a:r>
              <a:t>Otomatik Ödeme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65176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Her ay KMH'dan</a:t>
            </a:r>
            <a:br/>
            <a:r>
              <a:t>ev sahibi IBAN'ına</a:t>
            </a:r>
            <a:br/>
            <a:r>
              <a:t>otomatik transfer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23774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23774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23774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Kiracı: Depozitosuz taşınma   •   Ev Sahibi: Garantili kira geliri   •   Banka: Yeni ürün + KMH faiz geliri   •   Platform: %1 komisyon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Banka İçin Değer Önerisi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94A3B8"/>
                </a:solidFill>
                <a:latin typeface="Calibri"/>
              </a:defRPr>
            </a:pPr>
            <a:r>
              <a:t>SecureLend entegrasyonu bankaya 4 temel değer katar.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931920" cy="146304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1463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Yeni Gelir Hattı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KMH faiz geliri + kira ödeme hacmi.</a:t>
            </a:r>
            <a:br/>
            <a:r>
              <a:t>12M+ potansiyel kiracı müşteri tabanı.</a:t>
            </a:r>
            <a:br/>
            <a:r>
              <a:t>Ortalama KMH limiti: Gelir × 3 (max 500K TL)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280160"/>
            <a:ext cx="3931920" cy="146304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280160"/>
            <a:ext cx="64008" cy="1463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38988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Müşteri Kazanımı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73736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Kiracı segmentine dijital onboarding.</a:t>
            </a:r>
            <a:br/>
            <a:r>
              <a:t>KMH üzerinden cross-sell fırsatları.</a:t>
            </a:r>
            <a:br/>
            <a:r>
              <a:t>Genç/dijital-native kitle erişimi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71800"/>
            <a:ext cx="3931920" cy="146304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64008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8152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Düşük Operasyonel Yük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2900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Tüm süreç SecureLend platformunda.</a:t>
            </a:r>
            <a:br/>
            <a:r>
              <a:t>Abstract Service Pattern ile entegrasyon.</a:t>
            </a:r>
            <a:br/>
            <a:r>
              <a:t>Mock → Gerçek API geçişi tek konfigürasyon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971800"/>
            <a:ext cx="3931920" cy="146304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2971800"/>
            <a:ext cx="64008" cy="1463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308152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Regülasyon Uyumu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42900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KVKK uyumlu veri işleme.</a:t>
            </a:r>
            <a:br/>
            <a:r>
              <a:t>BDDK kriterlerine uygun KMH değerlendirme.</a:t>
            </a:r>
            <a:br/>
            <a:r>
              <a:t>TCKN kriptografik hash ile saklama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C1B33"/>
                </a:solidFill>
                <a:latin typeface="Calibri"/>
              </a:defRPr>
            </a:pPr>
            <a:r>
              <a:t>Teknoloji Mimarisi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94A3B8"/>
                </a:solidFill>
                <a:latin typeface="Calibri"/>
              </a:defRPr>
            </a:pPr>
            <a:r>
              <a:t>Enterprise-grade, modüler ve banka entegrasyonuna hazır mimari.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307592"/>
            <a:ext cx="2468880" cy="228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468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246888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Next.js 15 (App Router)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React 19 +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18 sayfa + 3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089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Expo React Native (Mobil)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1" y="1307592"/>
            <a:ext cx="2468880" cy="228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280160"/>
            <a:ext cx="2468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280160"/>
            <a:ext cx="2468880" cy="41148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298448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8288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NestJS 10 + TypeScript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1488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Prisma ORM + 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4688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13 modül / ~38 API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7889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JWT + OTP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1089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10 katmanlı güvenlik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2472" y="1307592"/>
            <a:ext cx="2468880" cy="228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280160"/>
            <a:ext cx="2468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1280160"/>
            <a:ext cx="24688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298448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Altyapı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8288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Docker + Turborepo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1488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pnpm Monorepo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4688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13 DB tablosu / 10 enum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7889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Abstract Service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1089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Mock ↔ Production switch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" y="3822192"/>
            <a:ext cx="7863840" cy="868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3794760"/>
            <a:ext cx="78638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8404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C1B33"/>
                </a:solidFill>
                <a:latin typeface="Calibri"/>
              </a:defRPr>
            </a:pPr>
            <a:r>
              <a:t>Güvenlik Katmanları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16052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Helmet HTTP  •  CORS  •  3 Katmanlı Rate Limiting  •  JWT Guard  •  Role Guard  •  DTO Validation  •  TCKN Hash  •  Log Masking  •  Audit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C1B33"/>
                </a:solidFill>
                <a:latin typeface="Calibri"/>
              </a:defRPr>
            </a:pPr>
            <a:r>
              <a:t>KMH Başvuru &amp; Değerlendirme Akışı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55448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1554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Başvuru</a:t>
            </a:r>
            <a:br/>
            <a:r>
              <a:t>Formu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Kiracı bilgilerini</a:t>
            </a:r>
            <a:br/>
            <a:r>
              <a:t>girer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097280"/>
            <a:ext cx="1554480" cy="82296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115568"/>
            <a:ext cx="1554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Kredi</a:t>
            </a:r>
            <a:br/>
            <a:r>
              <a:t>Skorlama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116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Gelir analizi</a:t>
            </a:r>
            <a:br/>
            <a:r>
              <a:t>KKB/Findeks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155448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115568"/>
            <a:ext cx="1554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KMH</a:t>
            </a:r>
            <a:br/>
            <a:r>
              <a:t>Onay/Red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Gelir ≥ Kira×2</a:t>
            </a:r>
            <a:br/>
            <a:r>
              <a:t>Limit: Gelir×3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1554480" cy="82296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115568"/>
            <a:ext cx="1554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Dijital</a:t>
            </a:r>
            <a:br/>
            <a:r>
              <a:t>Onboarding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116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KYC + Video</a:t>
            </a:r>
            <a:br/>
            <a:r>
              <a:t>Sözleşme imza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097280"/>
            <a:ext cx="155448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115568"/>
            <a:ext cx="1554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KMH</a:t>
            </a:r>
            <a:br/>
            <a:r>
              <a:t>Hesap Açık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0116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IBAN üretilir</a:t>
            </a:r>
            <a:br/>
            <a:r>
              <a:t>Limit aktif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1280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1280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280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280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" y="2862072"/>
            <a:ext cx="3840480" cy="182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2834640"/>
            <a:ext cx="3840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2608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C1B33"/>
                </a:solidFill>
                <a:latin typeface="Calibri"/>
              </a:defRPr>
            </a:pPr>
            <a:r>
              <a:t>Değerlendirme Kriterleri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29184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Minimum Gelir:  Tahmini Kira ×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54787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KMH Limiti:  Aylık Gelir ×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803904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Maksimum Limit:  500.000 TL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059936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Varsayılan Faiz:  %2.49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315968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▸  İstihdam: Çalışan, Serbest, Emekli, Öğrenci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90872" y="2862072"/>
            <a:ext cx="3840480" cy="182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3440" y="2834640"/>
            <a:ext cx="3840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292608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C1B33"/>
                </a:solidFill>
                <a:latin typeface="Calibri"/>
              </a:defRPr>
            </a:pPr>
            <a:r>
              <a:t>Dijital Onboarding Adımları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29184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1. Teklif kabul ve KVKK onayı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354787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2. Kimlik doğrulama (TC Kimlik)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803904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3. Selfie doğrulama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4059936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4. Video görüşme (KYC)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315968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5. Sözleşme imzalama → Hesap açılışı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C1B33"/>
                </a:solidFill>
                <a:latin typeface="Calibri"/>
              </a:defRPr>
            </a:pPr>
            <a:r>
              <a:t>Banka Entegrasyon Modeli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94A3B8"/>
                </a:solidFill>
                <a:latin typeface="Calibri"/>
              </a:defRPr>
            </a:pPr>
            <a:r>
              <a:t>Abstract Service Pattern — banka API geçişi için sıfır kod değişikliği.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80160"/>
            <a:ext cx="640080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6400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SecureLend Platform  (NestJS Backend)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103120"/>
            <a:ext cx="6400800" cy="54864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6400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Abstract Service Layer  (DI Configuration)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880360"/>
            <a:ext cx="1554480" cy="1280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BankService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4612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 i="0">
                <a:solidFill>
                  <a:srgbClr val="CADCFC"/>
                </a:solidFill>
                <a:latin typeface="Calibri"/>
              </a:defRPr>
            </a:pPr>
            <a:r>
              <a:t>KMH açılış</a:t>
            </a:r>
            <a:br/>
            <a:r>
              <a:t>Transfer</a:t>
            </a:r>
            <a:br/>
            <a:r>
              <a:t>Bakiye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880360"/>
            <a:ext cx="1554480" cy="128016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926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SmsService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24612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 i="0">
                <a:solidFill>
                  <a:srgbClr val="CADCFC"/>
                </a:solidFill>
                <a:latin typeface="Calibri"/>
              </a:defRPr>
            </a:pPr>
            <a:r>
              <a:t>OTP gönderim</a:t>
            </a:r>
            <a:br/>
            <a:r>
              <a:t>Bildirimler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880360"/>
            <a:ext cx="1554480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926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CreditScoring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24612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 i="0">
                <a:solidFill>
                  <a:srgbClr val="CADCFC"/>
                </a:solidFill>
                <a:latin typeface="Calibri"/>
              </a:defRPr>
            </a:pPr>
            <a:r>
              <a:t>KKB/Findeks</a:t>
            </a:r>
            <a:br/>
            <a:r>
              <a:t>Skor hesaplama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880360"/>
            <a:ext cx="155448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IdentityVerify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4612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 i="0">
                <a:solidFill>
                  <a:srgbClr val="CADCFC"/>
                </a:solidFill>
                <a:latin typeface="Calibri"/>
              </a:defRPr>
            </a:pPr>
            <a:r>
              <a:t>E-Devlet KPS</a:t>
            </a:r>
            <a:br/>
            <a:r>
              <a:t>Kimlik doğrulama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297680"/>
            <a:ext cx="292608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297680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Geliştirme:  MockService (Simülasyon)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297680"/>
            <a:ext cx="292608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297680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Prodüksiyon:  Gerçek Banka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31596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C1B33"/>
                </a:solidFill>
                <a:latin typeface="Calibri"/>
              </a:defRPr>
            </a:pPr>
            <a:r>
              <a:t>Banka Tarafı API Endpoint'leri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94A3B8"/>
                </a:solidFill>
                <a:latin typeface="Calibri"/>
              </a:defRPr>
            </a:pPr>
            <a:r>
              <a:t>Bankanın sağlaması gereken temel API'ler ve SecureLend tarafından çağrılma şekilleri.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59" y="123444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Metod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79" y="12344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Açıklama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23444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Veri Akışı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028090"/>
                </a:solidFill>
                <a:latin typeface="Calibri"/>
              </a:defRPr>
            </a:pPr>
            <a:r>
              <a:t>/bank/kmh/apply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59" y="16459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0C1B33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16459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KMH başvurusu yap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64592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SL → Banka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029968"/>
            <a:ext cx="786384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29968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028090"/>
                </a:solidFill>
                <a:latin typeface="Calibri"/>
              </a:defRPr>
            </a:pPr>
            <a:r>
              <a:t>/bank/kmh/evaluate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2029968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0C1B33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79" y="2029968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Kredi değerlendirme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029968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Banka → SL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414016"/>
            <a:ext cx="7863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414016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028090"/>
                </a:solidFill>
                <a:latin typeface="Calibri"/>
              </a:defRPr>
            </a:pPr>
            <a:r>
              <a:t>/bank/kmh/onboarding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59" y="2414016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0C1B33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241401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Dijital onboarding başlat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414016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SL → Banka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798064"/>
            <a:ext cx="786384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798064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028090"/>
                </a:solidFill>
                <a:latin typeface="Calibri"/>
              </a:defRPr>
            </a:pPr>
            <a:r>
              <a:t>/bank/kmh/account-open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59" y="279806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0C1B33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79" y="2798064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KMH hesap aç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798064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Banka → SL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182112"/>
            <a:ext cx="7863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182112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028090"/>
                </a:solidFill>
                <a:latin typeface="Calibri"/>
              </a:defRPr>
            </a:pPr>
            <a:r>
              <a:t>/bank/contract/notify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59" y="3182112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0C1B33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79" y="31821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Sözleşme bildirim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182112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SL → Banka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56616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028090"/>
                </a:solidFill>
                <a:latin typeface="Calibri"/>
              </a:defRPr>
            </a:pPr>
            <a:r>
              <a:t>/bank/payment-order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59" y="356616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0C1B33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79" y="35661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Düzenli ödeme emri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56616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Banka → SL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950208"/>
            <a:ext cx="7863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950208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028090"/>
                </a:solidFill>
                <a:latin typeface="Calibri"/>
              </a:defRPr>
            </a:pPr>
            <a:r>
              <a:t>/bank/transfer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59" y="3950208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0C1B33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9079" y="3950208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KMH → IBAN transfer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950208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Banka iç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334256"/>
            <a:ext cx="786384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334256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028090"/>
                </a:solidFill>
                <a:latin typeface="Calibri"/>
              </a:defRPr>
            </a:pPr>
            <a:r>
              <a:t>/bank/balance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59" y="4334256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0C1B33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9079" y="433425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Bakiye sorgulama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4334256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Calibri"/>
              </a:defRPr>
            </a:pPr>
            <a:r>
              <a:t>SL → Banka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Gelir Modeli &amp; Projeksiyon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2468880" cy="173736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64008" cy="1737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Platform Komisyonu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 i="0">
                <a:solidFill>
                  <a:srgbClr val="028090"/>
                </a:solidFill>
                <a:latin typeface="Calibri"/>
              </a:defRPr>
            </a:pPr>
            <a:r>
              <a:t>%1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Her kira ödemesinden</a:t>
            </a:r>
            <a:br/>
            <a:r>
              <a:t>alınan sabit oran.</a:t>
            </a:r>
            <a:br/>
            <a:r>
              <a:t>Ev sahibi = Kira - Komisyon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097280"/>
            <a:ext cx="2468880" cy="173736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097280"/>
            <a:ext cx="64008" cy="1737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1887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Banka KMH Faizi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508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 i="0">
                <a:solidFill>
                  <a:srgbClr val="F5A623"/>
                </a:solidFill>
                <a:latin typeface="Calibri"/>
              </a:defRPr>
            </a:pPr>
            <a:r>
              <a:t>%2.49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9659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KMH limiti kullanımı</a:t>
            </a:r>
            <a:br/>
            <a:r>
              <a:t>üzerinden banka faiz</a:t>
            </a:r>
            <a:br/>
            <a:r>
              <a:t>geliri elde eder.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97280"/>
            <a:ext cx="2468880" cy="173736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097280"/>
            <a:ext cx="6400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1887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Çapraz Satış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 i="0">
                <a:solidFill>
                  <a:srgbClr val="10B981"/>
                </a:solidFill>
                <a:latin typeface="Calibri"/>
              </a:defRPr>
            </a:pPr>
            <a:r>
              <a:t>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659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Dijital onboarding ile</a:t>
            </a:r>
            <a:br/>
            <a:r>
              <a:t>yeni müşteri kazanımı.</a:t>
            </a:r>
            <a:br/>
            <a:r>
              <a:t>Sigorta, kredi kartı vb.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solidFill>
            <a:srgbClr val="14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697480" y="310896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Yıl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10896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Yıl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399" y="310896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Yıl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20440"/>
            <a:ext cx="7863840" cy="329184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520440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Aktif Sözleşme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520440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10.000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520440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50.000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520440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200.000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867912"/>
            <a:ext cx="7863840" cy="329184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867912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Ort. Kira (TL)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3867912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15.000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867912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18.000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867912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22.000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215384"/>
            <a:ext cx="7863840" cy="329184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215384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028090"/>
                </a:solidFill>
                <a:latin typeface="Calibri"/>
              </a:defRPr>
            </a:pPr>
            <a:r>
              <a:t>Platform Geliri (M TL)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4215384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5A623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215384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5A623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215384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5A623"/>
                </a:solidFill>
                <a:latin typeface="Calibri"/>
              </a:defRPr>
            </a:pPr>
            <a:r>
              <a:t>528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562856"/>
            <a:ext cx="7863840" cy="329184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562856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028090"/>
                </a:solidFill>
                <a:latin typeface="Calibri"/>
              </a:defRPr>
            </a:pPr>
            <a:r>
              <a:t>Banka KMH Geliri (M TL)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562856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5A623"/>
                </a:solidFill>
                <a:latin typeface="Calibri"/>
              </a:defRPr>
            </a:pPr>
            <a:r>
              <a:t>~45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562856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5A623"/>
                </a:solidFill>
                <a:latin typeface="Calibri"/>
              </a:defRPr>
            </a:pPr>
            <a:r>
              <a:t>~270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62856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5A623"/>
                </a:solidFill>
                <a:latin typeface="Calibri"/>
              </a:defRPr>
            </a:pPr>
            <a:r>
              <a:t>~1.320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C1B33"/>
                </a:solidFill>
                <a:latin typeface="Calibri"/>
              </a:defRPr>
            </a:pPr>
            <a:r>
              <a:t>Veri Modeli &amp; Veritabanı Yapısı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94A3B8"/>
                </a:solidFill>
                <a:latin typeface="Calibri"/>
              </a:defRPr>
            </a:pPr>
            <a:r>
              <a:t>13 tablo, 10 enum — bankacılık düzeyinde veri bütünlüğü ve ilişkisel yapı.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194560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4630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ADCFC"/>
                </a:solidFill>
                <a:latin typeface="Calibri"/>
              </a:defRPr>
            </a:pPr>
            <a:r>
              <a:t>TCKN, KYC, Roller</a:t>
            </a:r>
            <a:br/>
            <a:r>
              <a:t>(Kiracı/Ev Sahibi/Admin)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194560" cy="118872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630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KmhApplication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ADCFC"/>
                </a:solidFill>
                <a:latin typeface="Calibri"/>
              </a:defRPr>
            </a:pPr>
            <a:r>
              <a:t>Gelir, İstihdam,</a:t>
            </a:r>
            <a:br/>
            <a:r>
              <a:t>Onay/Red, Limit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371600"/>
            <a:ext cx="2194560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59" y="14630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BankAccount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59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ADCFC"/>
                </a:solidFill>
                <a:latin typeface="Calibri"/>
              </a:defRPr>
            </a:pPr>
            <a:r>
              <a:t>KMH/Standard,</a:t>
            </a:r>
            <a:br/>
            <a:r>
              <a:t>IBAN, Limit, Bakiye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26080"/>
            <a:ext cx="2194560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30175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Property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33832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ADCFC"/>
                </a:solidFill>
                <a:latin typeface="Calibri"/>
              </a:defRPr>
            </a:pPr>
            <a:r>
              <a:t>Adres, Tip, Kira,</a:t>
            </a:r>
            <a:br/>
            <a:r>
              <a:t>Depozito, Durum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926080"/>
            <a:ext cx="2194560" cy="118872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30175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3832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ADCFC"/>
                </a:solidFill>
                <a:latin typeface="Calibri"/>
              </a:defRPr>
            </a:pPr>
            <a:r>
              <a:t>Sözleşme, İmzalar,</a:t>
            </a:r>
            <a:br/>
            <a:r>
              <a:t>IBAN, Tarihler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926080"/>
            <a:ext cx="219456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59" y="30175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PaymentOrder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33832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ADCFC"/>
                </a:solidFill>
                <a:latin typeface="Calibri"/>
              </a:defRPr>
            </a:pPr>
            <a:r>
              <a:t>Düzenli Ödeme,</a:t>
            </a:r>
            <a:br/>
            <a:r>
              <a:t>KMH→IBAN Transfer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16916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16916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2461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32461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15968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Destekleyici Modeller:  ContractSignature  •  PaymentSchedule  •  Commission  •  BankTransaction  •  AuditLog  •  OtpCode  •  Notification  •  ChatRoom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C1B33"/>
                </a:solidFill>
                <a:latin typeface="Calibri"/>
              </a:defRPr>
            </a:pPr>
            <a:r>
              <a:t>Regülasyon Uyumu &amp; Güvenlik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033272"/>
            <a:ext cx="3931920" cy="1691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39319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05840"/>
            <a:ext cx="64008" cy="1691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1556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C1B33"/>
                </a:solidFill>
                <a:latin typeface="Calibri"/>
              </a:defRPr>
            </a:pPr>
            <a:r>
              <a:t>KVKK Uyumluluğu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Aydınlatma metni ve açık rıza onayı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Veri işleme amacı ve süresi tanımlı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Kişisel verilerin kriptografik hash ile saklanması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Consent tablosu ile onay takibi (versiyon bazlı)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3752" y="1033272"/>
            <a:ext cx="3931920" cy="1691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05840"/>
            <a:ext cx="39319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05840"/>
            <a:ext cx="64008" cy="169164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11556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C1B33"/>
                </a:solidFill>
                <a:latin typeface="Calibri"/>
              </a:defRPr>
            </a:pPr>
            <a:r>
              <a:t>BDDK Kriterleri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46304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KMH değerlendirme gelir/kira oranı bazlı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73736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Kredi skorlama servisi entegrasyonu (KKB/Findeks)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01168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KMH limit hesaplama formülleri standartlara uygun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28600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Audit log ile tüm işlem kaydı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" y="2953512"/>
            <a:ext cx="3931920" cy="1691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926080"/>
            <a:ext cx="39319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926080"/>
            <a:ext cx="64008" cy="1691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03580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C1B33"/>
                </a:solidFill>
                <a:latin typeface="Calibri"/>
              </a:defRPr>
            </a:pPr>
            <a:r>
              <a:t>Veri Güvenliği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8328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TCKN kriptografik hash + pepper ile saklama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65760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OTP maskeleme (loglarda görünmez)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93192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JWT + Refresh token çift katmanlı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0624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Helmet HTTP güvenlik başlıkları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3752" y="2953512"/>
            <a:ext cx="3931920" cy="1691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0" y="2926080"/>
            <a:ext cx="39319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2926080"/>
            <a:ext cx="64008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03580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C1B33"/>
                </a:solidFill>
                <a:latin typeface="Calibri"/>
              </a:defRPr>
            </a:pPr>
            <a:r>
              <a:t>Operasyonel Güvenlik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38328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3 katmanlı rate limiting (short/medium/long)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65760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IP ve User-Agent bazlı oturum kaydı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93192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Role-based access control (RBAC)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20624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Calibri"/>
              </a:defRPr>
            </a:pPr>
            <a:r>
              <a:t>▸  AllExceptionsFilter — güvenli hata mesajları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Entegrasyon Yol Haritası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01168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Faz 1  •  Hafta 1-4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Teknik Keşif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API spesifikasyon anlaşması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Sandbox ortam kurulumu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96896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Mock → Banka API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9504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Test veri setleri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097280"/>
            <a:ext cx="201168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115568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Faz 2  •  Hafta 5-8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645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Entegrasyon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01168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KMH API entegrasyonu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30428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SMS gateway bağlantısı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596896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KKB/Findeks entegrasyonu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889504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E-Devlet KPS bağlantısı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097280"/>
            <a:ext cx="20116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115568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Faz 3  •  Hafta 9-12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1645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Test &amp; UAT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01168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Uçtan uca test senaryoları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30428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Penetrasyon testleri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596896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Performans testleri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2889504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Regülasyon uyum kontrolü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79" y="1097280"/>
            <a:ext cx="20116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79" y="1115568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Faz 4  •  Hafta 13-16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19" y="1645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Pilot &amp; Go-Live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01168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Pilot bölge/segment seçimi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30428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Kademeli kullanıcı artışı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596896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Monitoring &amp; alerting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889504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▸  Full production go-live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298448"/>
            <a:ext cx="859536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703320"/>
            <a:ext cx="7863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Kritik Milestonelar:   API Spec Onayı (H2)  →  İlk KMH Testi (H6)  →  UAT Tamamlanma (H11)  →  Go-Live (H16)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2976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028090"/>
                </a:solidFill>
                <a:latin typeface="Calibri"/>
              </a:defRPr>
            </a:pPr>
            <a:r>
              <a:t>16 Hafta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617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Toplam süre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39" y="42976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028090"/>
                </a:solidFill>
                <a:latin typeface="Calibri"/>
              </a:defRPr>
            </a:pPr>
            <a:r>
              <a:t>4 Servis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39" y="4617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Entegrasyon noktası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59" y="42976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028090"/>
                </a:solidFill>
                <a:latin typeface="Calibri"/>
              </a:defRPr>
            </a:pPr>
            <a:r>
              <a:t>~38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59" y="4617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Endpoint sayısı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79" y="42976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028090"/>
                </a:solidFill>
                <a:latin typeface="Calibri"/>
              </a:defRPr>
            </a:pPr>
            <a:r>
              <a:t>13 Tablo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79" y="4617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Veri modeli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2286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SecureLend ile Kira Güvence</a:t>
            </a:r>
            <a:br/>
            <a:r>
              <a:t>Pazarına Birlikte Girelim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Türkiye'de 12M+ kira sözleşmesi, dijital güvence çözümü bekliyor.</a:t>
            </a:r>
            <a:br/>
            <a:r>
              <a:t>Banka KMH altyapınız + SecureLend platformu = pazar lideri pozisyon.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64008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Sonraki Adım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Teknik ekip toplantısı — API spesifikasyon değerlendirmesi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64008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Sonraki Adım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91840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Sandbox ortam kurulumu ve ilk entegrasyon PoC'u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64008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Sonraki Adım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40480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İş geliştirme: Pilot bölge ve segment belirleme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Eray Karacaoğlan  |  SecureLend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348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 i="0">
                <a:solidFill>
                  <a:srgbClr val="00A896"/>
                </a:solidFill>
                <a:latin typeface="Calibri"/>
              </a:defRPr>
            </a:pPr>
            <a:r>
              <a:t>eraykaracaoglan@icloud.com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